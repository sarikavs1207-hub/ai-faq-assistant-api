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539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961120" y="822960"/>
            <a:ext cx="1371600" cy="1371600"/>
          </a:xfrm>
          <a:prstGeom prst="ellipse">
            <a:avLst/>
          </a:prstGeom>
          <a:solidFill>
            <a:srgbClr val="A06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966960" y="1645920"/>
            <a:ext cx="914400" cy="914400"/>
          </a:xfrm>
          <a:prstGeom prst="ellipse">
            <a:avLst/>
          </a:prstGeom>
          <a:solidFill>
            <a:srgbClr val="539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869680" y="2331720"/>
            <a:ext cx="594360" cy="594360"/>
          </a:xfrm>
          <a:prstGeom prst="ellipse">
            <a:avLst/>
          </a:prstGeom>
          <a:solidFill>
            <a:srgbClr val="41CD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143000"/>
            <a:ext cx="7863840" cy="1920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F5F8FF"/>
                </a:solidFill>
              </a:defRPr>
            </a:pPr>
            <a:r>
              <a:t>AnswerBot</a:t>
            </a:r>
          </a:p>
          <a:p>
            <a:pPr>
              <a:defRPr sz="2400" b="1">
                <a:solidFill>
                  <a:srgbClr val="5397FF"/>
                </a:solidFill>
              </a:defRPr>
            </a:pPr>
            <a:r>
              <a:t>AI-Powered FAQ &amp; Customer Support Automation</a:t>
            </a:r>
          </a:p>
          <a:p>
            <a:pPr>
              <a:defRPr sz="1400">
                <a:solidFill>
                  <a:srgbClr val="B1BED6"/>
                </a:solidFill>
              </a:defRPr>
            </a:pPr>
            <a:r>
              <a:t>Secure REST API • Intelligent FAQ Generation • Semantic Search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3977639"/>
            <a:ext cx="4754880" cy="1143000"/>
          </a:xfrm>
          <a:prstGeom prst="roundRect">
            <a:avLst/>
          </a:prstGeom>
          <a:solidFill>
            <a:srgbClr val="141D34"/>
          </a:solidFill>
          <a:ln>
            <a:solidFill>
              <a:srgbClr val="2E3E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rIns="164592" tIns="137160"/>
          <a:lstStyle/>
          <a:p>
            <a:pPr algn="ctr">
              <a:defRPr sz="1600" b="1">
                <a:solidFill>
                  <a:srgbClr val="F5F8FF"/>
                </a:solidFill>
              </a:defRPr>
            </a:pPr>
            <a:r>
              <a:t>Core Stack</a:t>
            </a:r>
          </a:p>
          <a:p>
            <a:pPr>
              <a:spcBef>
                <a:spcPts val="700"/>
              </a:spcBef>
              <a:defRPr sz="1150">
                <a:solidFill>
                  <a:srgbClr val="B1BED6"/>
                </a:solidFill>
              </a:defRPr>
            </a:pPr>
            <a:r>
              <a:t>Node.js • Express.js • MongoDB • Mongoose • JWT • bcrypt • Google Gemini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3977639"/>
            <a:ext cx="64008" cy="1143000"/>
          </a:xfrm>
          <a:prstGeom prst="rect">
            <a:avLst/>
          </a:prstGeom>
          <a:solidFill>
            <a:srgbClr val="539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715000" y="3977639"/>
            <a:ext cx="2834640" cy="1143000"/>
          </a:xfrm>
          <a:prstGeom prst="roundRect">
            <a:avLst/>
          </a:prstGeom>
          <a:solidFill>
            <a:srgbClr val="141D34"/>
          </a:solidFill>
          <a:ln>
            <a:solidFill>
              <a:srgbClr val="2E3E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rIns="164592" tIns="137160"/>
          <a:lstStyle/>
          <a:p>
            <a:pPr algn="ctr">
              <a:defRPr sz="1600" b="1">
                <a:solidFill>
                  <a:srgbClr val="F5F8FF"/>
                </a:solidFill>
              </a:defRPr>
            </a:pPr>
            <a:r>
              <a:t>Case Study</a:t>
            </a:r>
          </a:p>
          <a:p>
            <a:pPr>
              <a:spcBef>
                <a:spcPts val="700"/>
              </a:spcBef>
              <a:defRPr sz="1150">
                <a:solidFill>
                  <a:srgbClr val="B1BED6"/>
                </a:solidFill>
              </a:defRPr>
            </a:pPr>
            <a:r>
              <a:t>Priya — Customer Support Operations Manager</a:t>
            </a:r>
          </a:p>
        </p:txBody>
      </p:sp>
      <p:sp>
        <p:nvSpPr>
          <p:cNvPr id="10" name="Rectangle 9"/>
          <p:cNvSpPr/>
          <p:nvPr/>
        </p:nvSpPr>
        <p:spPr>
          <a:xfrm>
            <a:off x="5715000" y="3977639"/>
            <a:ext cx="64008" cy="1143000"/>
          </a:xfrm>
          <a:prstGeom prst="rect">
            <a:avLst/>
          </a:prstGeom>
          <a:solidFill>
            <a:srgbClr val="A06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823960" y="3977639"/>
            <a:ext cx="2423160" cy="1143000"/>
          </a:xfrm>
          <a:prstGeom prst="roundRect">
            <a:avLst/>
          </a:prstGeom>
          <a:solidFill>
            <a:srgbClr val="141D34"/>
          </a:solidFill>
          <a:ln>
            <a:solidFill>
              <a:srgbClr val="2E3E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rIns="164592" tIns="137160"/>
          <a:lstStyle/>
          <a:p>
            <a:pPr algn="ctr">
              <a:defRPr sz="1600" b="1">
                <a:solidFill>
                  <a:srgbClr val="F5F8FF"/>
                </a:solidFill>
              </a:defRPr>
            </a:pPr>
            <a:r>
              <a:t>Focus</a:t>
            </a:r>
          </a:p>
          <a:p>
            <a:pPr>
              <a:spcBef>
                <a:spcPts val="700"/>
              </a:spcBef>
              <a:defRPr sz="1150">
                <a:solidFill>
                  <a:srgbClr val="B1BED6"/>
                </a:solidFill>
              </a:defRPr>
            </a:pPr>
            <a:r>
              <a:t>Automation + Security + Discoverability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823960" y="3977639"/>
            <a:ext cx="64008" cy="1143000"/>
          </a:xfrm>
          <a:prstGeom prst="rect">
            <a:avLst/>
          </a:prstGeom>
          <a:solidFill>
            <a:srgbClr val="41CD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881360" y="6473952"/>
            <a:ext cx="640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B1BED6"/>
                </a:solidFill>
              </a:defRPr>
            </a:pPr>
            <a: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539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5F8FF"/>
                </a:solidFill>
              </a:defRPr>
            </a:pPr>
            <a:r>
              <a:t>01 — Background &amp;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41248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B1BED6"/>
                </a:solidFill>
              </a:defRPr>
            </a:pPr>
            <a:r>
              <a:t>Why a smarter FAQ workflow is needed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325880"/>
            <a:ext cx="5303520" cy="4343400"/>
          </a:xfrm>
          <a:prstGeom prst="roundRect">
            <a:avLst/>
          </a:prstGeom>
          <a:solidFill>
            <a:srgbClr val="141D34"/>
          </a:solidFill>
          <a:ln>
            <a:solidFill>
              <a:srgbClr val="2E3E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rIns="164592" tIns="137160"/>
          <a:lstStyle/>
          <a:p>
            <a:pPr algn="ctr">
              <a:defRPr sz="1600" b="1">
                <a:solidFill>
                  <a:srgbClr val="F5F8FF"/>
                </a:solidFill>
              </a:defRPr>
            </a:pPr>
            <a:r>
              <a:t>Scenario: Priya’s Support Backlog</a:t>
            </a:r>
          </a:p>
          <a:p>
            <a:pPr>
              <a:spcBef>
                <a:spcPts val="700"/>
              </a:spcBef>
              <a:defRPr sz="1150">
                <a:solidFill>
                  <a:srgbClr val="B1BED6"/>
                </a:solidFill>
              </a:defRPr>
            </a:pPr>
            <a:r>
              <a:t>Priya manages a large volume of repetitive customer questions. Manual FAQ creation, classification, updates and answer drafting consume valuable support time.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325880"/>
            <a:ext cx="64008" cy="4343400"/>
          </a:xfrm>
          <a:prstGeom prst="rect">
            <a:avLst/>
          </a:prstGeom>
          <a:solidFill>
            <a:srgbClr val="539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217920" y="1417320"/>
            <a:ext cx="521208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600">
                <a:solidFill>
                  <a:srgbClr val="F5F8FF"/>
                </a:solidFill>
              </a:defRPr>
            </a:pPr>
            <a:r>
              <a:t>• Difficult to create and maintain up-to-date documentation</a:t>
            </a:r>
          </a:p>
          <a:p>
            <a:pPr>
              <a:spcAft>
                <a:spcPts val="900"/>
              </a:spcAft>
              <a:defRPr sz="1600">
                <a:solidFill>
                  <a:srgbClr val="F5F8FF"/>
                </a:solidFill>
              </a:defRPr>
            </a:pPr>
            <a:r>
              <a:t>• Limited visibility into search keywords and recurring question trends</a:t>
            </a:r>
          </a:p>
          <a:p>
            <a:pPr>
              <a:spcAft>
                <a:spcPts val="900"/>
              </a:spcAft>
              <a:defRPr sz="1600">
                <a:solidFill>
                  <a:srgbClr val="F5F8FF"/>
                </a:solidFill>
              </a:defRPr>
            </a:pPr>
            <a:r>
              <a:t>• Time-consuming manual drafting of complex support answers</a:t>
            </a:r>
          </a:p>
          <a:p>
            <a:pPr>
              <a:spcAft>
                <a:spcPts val="900"/>
              </a:spcAft>
              <a:defRPr sz="1600">
                <a:solidFill>
                  <a:srgbClr val="F5F8FF"/>
                </a:solidFill>
              </a:defRPr>
            </a:pPr>
            <a:r>
              <a:t>• No unified permission layer for private documentation</a:t>
            </a:r>
          </a:p>
          <a:p>
            <a:pPr>
              <a:spcAft>
                <a:spcPts val="900"/>
              </a:spcAft>
              <a:defRPr sz="1600">
                <a:solidFill>
                  <a:srgbClr val="F5F8FF"/>
                </a:solidFill>
              </a:defRPr>
            </a:pPr>
            <a:r>
              <a:t>• Need for faster discovery of accurate, reusable answers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81360" y="6473952"/>
            <a:ext cx="640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B1BED6"/>
                </a:solidFill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539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5F8FF"/>
                </a:solidFill>
              </a:defRPr>
            </a:pPr>
            <a:r>
              <a:t>02 — Proposed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41248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B1BED6"/>
                </a:solidFill>
              </a:defRPr>
            </a:pPr>
            <a:r>
              <a:t>AnswerBot converts repetitive support work into a secure AI-assisted workflow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325880"/>
            <a:ext cx="3383280" cy="1828800"/>
          </a:xfrm>
          <a:prstGeom prst="roundRect">
            <a:avLst/>
          </a:prstGeom>
          <a:solidFill>
            <a:srgbClr val="141D34"/>
          </a:solidFill>
          <a:ln>
            <a:solidFill>
              <a:srgbClr val="2E3E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rIns="164592" tIns="137160"/>
          <a:lstStyle/>
          <a:p>
            <a:pPr algn="ctr">
              <a:defRPr sz="1600" b="1">
                <a:solidFill>
                  <a:srgbClr val="F5F8FF"/>
                </a:solidFill>
              </a:defRPr>
            </a:pPr>
            <a:r>
              <a:t>AI FAQ Generation</a:t>
            </a:r>
          </a:p>
          <a:p>
            <a:pPr>
              <a:spcBef>
                <a:spcPts val="700"/>
              </a:spcBef>
              <a:defRPr sz="1150">
                <a:solidFill>
                  <a:srgbClr val="B1BED6"/>
                </a:solidFill>
              </a:defRPr>
            </a:pPr>
            <a:r>
              <a:t>Gemini-powered generation of questions, answers and topic suggestions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325880"/>
            <a:ext cx="64008" cy="1828800"/>
          </a:xfrm>
          <a:prstGeom prst="rect">
            <a:avLst/>
          </a:prstGeom>
          <a:solidFill>
            <a:srgbClr val="539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434840" y="1325880"/>
            <a:ext cx="3383280" cy="1828800"/>
          </a:xfrm>
          <a:prstGeom prst="roundRect">
            <a:avLst/>
          </a:prstGeom>
          <a:solidFill>
            <a:srgbClr val="141D34"/>
          </a:solidFill>
          <a:ln>
            <a:solidFill>
              <a:srgbClr val="2E3E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rIns="164592" tIns="137160"/>
          <a:lstStyle/>
          <a:p>
            <a:pPr algn="ctr">
              <a:defRPr sz="1600" b="1">
                <a:solidFill>
                  <a:srgbClr val="F5F8FF"/>
                </a:solidFill>
              </a:defRPr>
            </a:pPr>
            <a:r>
              <a:t>Semantic Search</a:t>
            </a:r>
          </a:p>
          <a:p>
            <a:pPr>
              <a:spcBef>
                <a:spcPts val="700"/>
              </a:spcBef>
              <a:defRPr sz="1150">
                <a:solidFill>
                  <a:srgbClr val="B1BED6"/>
                </a:solidFill>
              </a:defRPr>
            </a:pPr>
            <a:r>
              <a:t>Fast keyword-based discovery of relevant FAQ documents</a:t>
            </a:r>
          </a:p>
        </p:txBody>
      </p:sp>
      <p:sp>
        <p:nvSpPr>
          <p:cNvPr id="8" name="Rectangle 7"/>
          <p:cNvSpPr/>
          <p:nvPr/>
        </p:nvSpPr>
        <p:spPr>
          <a:xfrm>
            <a:off x="4434840" y="1325880"/>
            <a:ext cx="64008" cy="1828800"/>
          </a:xfrm>
          <a:prstGeom prst="rect">
            <a:avLst/>
          </a:prstGeom>
          <a:solidFill>
            <a:srgbClr val="A06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229600" y="1325880"/>
            <a:ext cx="3383280" cy="1828800"/>
          </a:xfrm>
          <a:prstGeom prst="roundRect">
            <a:avLst/>
          </a:prstGeom>
          <a:solidFill>
            <a:srgbClr val="141D34"/>
          </a:solidFill>
          <a:ln>
            <a:solidFill>
              <a:srgbClr val="2E3E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rIns="164592" tIns="137160"/>
          <a:lstStyle/>
          <a:p>
            <a:pPr algn="ctr">
              <a:defRPr sz="1600" b="1">
                <a:solidFill>
                  <a:srgbClr val="F5F8FF"/>
                </a:solidFill>
              </a:defRPr>
            </a:pPr>
            <a:r>
              <a:t>Secure Access</a:t>
            </a:r>
          </a:p>
          <a:p>
            <a:pPr>
              <a:spcBef>
                <a:spcPts val="700"/>
              </a:spcBef>
              <a:defRPr sz="1150">
                <a:solidFill>
                  <a:srgbClr val="B1BED6"/>
                </a:solidFill>
              </a:defRPr>
            </a:pPr>
            <a:r>
              <a:t>JWT authorization and bcrypt password hashing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0" y="1325880"/>
            <a:ext cx="64008" cy="1828800"/>
          </a:xfrm>
          <a:prstGeom prst="rect">
            <a:avLst/>
          </a:prstGeom>
          <a:solidFill>
            <a:srgbClr val="41CD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40080" y="3566160"/>
            <a:ext cx="3383280" cy="1828800"/>
          </a:xfrm>
          <a:prstGeom prst="roundRect">
            <a:avLst/>
          </a:prstGeom>
          <a:solidFill>
            <a:srgbClr val="141D34"/>
          </a:solidFill>
          <a:ln>
            <a:solidFill>
              <a:srgbClr val="2E3E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rIns="164592" tIns="137160"/>
          <a:lstStyle/>
          <a:p>
            <a:pPr algn="ctr">
              <a:defRPr sz="1600" b="1">
                <a:solidFill>
                  <a:srgbClr val="F5F8FF"/>
                </a:solidFill>
              </a:defRPr>
            </a:pPr>
            <a:r>
              <a:t>Content Management</a:t>
            </a:r>
          </a:p>
          <a:p>
            <a:pPr>
              <a:spcBef>
                <a:spcPts val="700"/>
              </a:spcBef>
              <a:defRPr sz="1150">
                <a:solidFill>
                  <a:srgbClr val="B1BED6"/>
                </a:solidFill>
              </a:defRPr>
            </a:pPr>
            <a:r>
              <a:t>Full CRUD operations with Mongoose schema validation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3566160"/>
            <a:ext cx="64008" cy="1828800"/>
          </a:xfrm>
          <a:prstGeom prst="rect">
            <a:avLst/>
          </a:prstGeom>
          <a:solidFill>
            <a:srgbClr val="FFAE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434840" y="3566160"/>
            <a:ext cx="3383280" cy="1828800"/>
          </a:xfrm>
          <a:prstGeom prst="roundRect">
            <a:avLst/>
          </a:prstGeom>
          <a:solidFill>
            <a:srgbClr val="141D34"/>
          </a:solidFill>
          <a:ln>
            <a:solidFill>
              <a:srgbClr val="2E3E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rIns="164592" tIns="137160"/>
          <a:lstStyle/>
          <a:p>
            <a:pPr algn="ctr">
              <a:defRPr sz="1600" b="1">
                <a:solidFill>
                  <a:srgbClr val="F5F8FF"/>
                </a:solidFill>
              </a:defRPr>
            </a:pPr>
            <a:r>
              <a:t>Category Organization</a:t>
            </a:r>
          </a:p>
          <a:p>
            <a:pPr>
              <a:spcBef>
                <a:spcPts val="700"/>
              </a:spcBef>
              <a:defRPr sz="1150">
                <a:solidFill>
                  <a:srgbClr val="B1BED6"/>
                </a:solidFill>
              </a:defRPr>
            </a:pPr>
            <a:r>
              <a:t>Structured categories make FAQs easier to browse and manage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434840" y="3566160"/>
            <a:ext cx="64008" cy="1828800"/>
          </a:xfrm>
          <a:prstGeom prst="rect">
            <a:avLst/>
          </a:prstGeom>
          <a:solidFill>
            <a:srgbClr val="539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229600" y="3566160"/>
            <a:ext cx="3383280" cy="1828800"/>
          </a:xfrm>
          <a:prstGeom prst="roundRect">
            <a:avLst/>
          </a:prstGeom>
          <a:solidFill>
            <a:srgbClr val="141D34"/>
          </a:solidFill>
          <a:ln>
            <a:solidFill>
              <a:srgbClr val="2E3E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rIns="164592" tIns="137160"/>
          <a:lstStyle/>
          <a:p>
            <a:pPr algn="ctr">
              <a:defRPr sz="1600" b="1">
                <a:solidFill>
                  <a:srgbClr val="F5F8FF"/>
                </a:solidFill>
              </a:defRPr>
            </a:pPr>
            <a:r>
              <a:t>Centralized Errors</a:t>
            </a:r>
          </a:p>
          <a:p>
            <a:pPr>
              <a:spcBef>
                <a:spcPts val="700"/>
              </a:spcBef>
              <a:defRPr sz="1150">
                <a:solidFill>
                  <a:srgbClr val="B1BED6"/>
                </a:solidFill>
              </a:defRPr>
            </a:pPr>
            <a:r>
              <a:t>Sanitized, consistent API responses improve reliability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29600" y="3566160"/>
            <a:ext cx="64008" cy="1828800"/>
          </a:xfrm>
          <a:prstGeom prst="rect">
            <a:avLst/>
          </a:prstGeom>
          <a:solidFill>
            <a:srgbClr val="A06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81360" y="6473952"/>
            <a:ext cx="640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B1BED6"/>
                </a:solidFill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539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5F8FF"/>
                </a:solidFill>
              </a:defRPr>
            </a:pPr>
            <a:r>
              <a:t>03 — Software &amp; Hardware Requirements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234440"/>
            <a:ext cx="5394960" cy="4526280"/>
          </a:xfrm>
          <a:prstGeom prst="roundRect">
            <a:avLst/>
          </a:prstGeom>
          <a:solidFill>
            <a:srgbClr val="141D34"/>
          </a:solidFill>
          <a:ln>
            <a:solidFill>
              <a:srgbClr val="2E3E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rIns="164592" tIns="137160"/>
          <a:lstStyle/>
          <a:p>
            <a:pPr algn="ctr">
              <a:defRPr sz="1600" b="1">
                <a:solidFill>
                  <a:srgbClr val="F5F8FF"/>
                </a:solidFill>
              </a:defRPr>
            </a:pPr>
            <a:r>
              <a:t>Software Requirements</a:t>
            </a:r>
          </a:p>
          <a:p>
            <a:pPr>
              <a:spcBef>
                <a:spcPts val="700"/>
              </a:spcBef>
              <a:defRPr sz="1150">
                <a:solidFill>
                  <a:srgbClr val="B1BED6"/>
                </a:solidFill>
              </a:defRPr>
            </a:pPr>
            <a:r>
              <a:t>• Windows 10/11, macOS or Linux</a:t>
            </a:r>
            <a:br/>
            <a:r>
              <a:t>• Node.js v18+</a:t>
            </a:r>
            <a:br/>
            <a:r>
              <a:t>• npm v9+</a:t>
            </a:r>
            <a:br/>
            <a:r>
              <a:t>• Express.js v4/v5</a:t>
            </a:r>
            <a:br/>
            <a:r>
              <a:t>• MongoDB + Mongoose ODM</a:t>
            </a:r>
            <a:br/>
            <a:r>
              <a:t>• Postman / ThunderClient</a:t>
            </a:r>
            <a:br/>
            <a:r>
              <a:t>• VS Code or similar IDE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234440"/>
            <a:ext cx="64008" cy="4526280"/>
          </a:xfrm>
          <a:prstGeom prst="rect">
            <a:avLst/>
          </a:prstGeom>
          <a:solidFill>
            <a:srgbClr val="539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217920" y="1234440"/>
            <a:ext cx="5303520" cy="4526280"/>
          </a:xfrm>
          <a:prstGeom prst="roundRect">
            <a:avLst/>
          </a:prstGeom>
          <a:solidFill>
            <a:srgbClr val="141D34"/>
          </a:solidFill>
          <a:ln>
            <a:solidFill>
              <a:srgbClr val="2E3E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rIns="164592" tIns="137160"/>
          <a:lstStyle/>
          <a:p>
            <a:pPr algn="ctr">
              <a:defRPr sz="1600" b="1">
                <a:solidFill>
                  <a:srgbClr val="F5F8FF"/>
                </a:solidFill>
              </a:defRPr>
            </a:pPr>
            <a:r>
              <a:t>Hardware Requirements</a:t>
            </a:r>
          </a:p>
          <a:p>
            <a:pPr>
              <a:spcBef>
                <a:spcPts val="700"/>
              </a:spcBef>
              <a:defRPr sz="1150">
                <a:solidFill>
                  <a:srgbClr val="B1BED6"/>
                </a:solidFill>
              </a:defRPr>
            </a:pPr>
            <a:r>
              <a:t>• Intel Core i5 8th Gen+ / AMD Ryzen 5+</a:t>
            </a:r>
            <a:br/>
            <a:r>
              <a:t>• 8 GB RAM minimum</a:t>
            </a:r>
            <a:br/>
            <a:r>
              <a:t>• 16 GB recommended for concurrent MongoDB processing</a:t>
            </a:r>
            <a:br/>
            <a:r>
              <a:t>• 1 GB available storage</a:t>
            </a:r>
            <a:br/>
            <a:r>
              <a:t>• Stable network access for AI service integration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0" y="1234440"/>
            <a:ext cx="64008" cy="4526280"/>
          </a:xfrm>
          <a:prstGeom prst="rect">
            <a:avLst/>
          </a:prstGeom>
          <a:solidFill>
            <a:srgbClr val="41CD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881360" y="6473952"/>
            <a:ext cx="640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B1BED6"/>
                </a:solidFill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539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5F8FF"/>
                </a:solidFill>
              </a:defRPr>
            </a:pPr>
            <a:r>
              <a:t>04 — Project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41248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B1BED6"/>
                </a:solidFill>
              </a:defRPr>
            </a:pPr>
            <a:r>
              <a:t>Layered backend architecture for secure, scalable API processing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103120"/>
            <a:ext cx="2011680" cy="1645920"/>
          </a:xfrm>
          <a:prstGeom prst="roundRect">
            <a:avLst/>
          </a:prstGeom>
          <a:solidFill>
            <a:srgbClr val="141D34"/>
          </a:solidFill>
          <a:ln>
            <a:solidFill>
              <a:srgbClr val="2E3E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rIns="164592" tIns="137160"/>
          <a:lstStyle/>
          <a:p>
            <a:pPr algn="ctr">
              <a:defRPr sz="1600" b="1">
                <a:solidFill>
                  <a:srgbClr val="F5F8FF"/>
                </a:solidFill>
              </a:defRPr>
            </a:pPr>
            <a:r>
              <a:t>Client / Postman</a:t>
            </a:r>
          </a:p>
          <a:p>
            <a:pPr>
              <a:spcBef>
                <a:spcPts val="700"/>
              </a:spcBef>
              <a:defRPr sz="1150">
                <a:solidFill>
                  <a:srgbClr val="B1BED6"/>
                </a:solidFill>
              </a:defRPr>
            </a:pPr>
            <a:r>
              <a:t>API requests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2103120"/>
            <a:ext cx="64008" cy="1645920"/>
          </a:xfrm>
          <a:prstGeom prst="rect">
            <a:avLst/>
          </a:prstGeom>
          <a:solidFill>
            <a:srgbClr val="539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063240" y="2103120"/>
            <a:ext cx="2011680" cy="1645920"/>
          </a:xfrm>
          <a:prstGeom prst="roundRect">
            <a:avLst/>
          </a:prstGeom>
          <a:solidFill>
            <a:srgbClr val="141D34"/>
          </a:solidFill>
          <a:ln>
            <a:solidFill>
              <a:srgbClr val="2E3E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rIns="164592" tIns="137160"/>
          <a:lstStyle/>
          <a:p>
            <a:pPr algn="ctr">
              <a:defRPr sz="1600" b="1">
                <a:solidFill>
                  <a:srgbClr val="F5F8FF"/>
                </a:solidFill>
              </a:defRPr>
            </a:pPr>
            <a:r>
              <a:t>Express Gateway</a:t>
            </a:r>
          </a:p>
          <a:p>
            <a:pPr>
              <a:spcBef>
                <a:spcPts val="700"/>
              </a:spcBef>
              <a:defRPr sz="1150">
                <a:solidFill>
                  <a:srgbClr val="B1BED6"/>
                </a:solidFill>
              </a:defRPr>
            </a:pPr>
            <a:r>
              <a:t>GET • POST • PUT • DELETE</a:t>
            </a:r>
            <a:br/>
            <a:r>
              <a:t>JSON + CORS</a:t>
            </a:r>
          </a:p>
        </p:txBody>
      </p:sp>
      <p:sp>
        <p:nvSpPr>
          <p:cNvPr id="8" name="Rectangle 7"/>
          <p:cNvSpPr/>
          <p:nvPr/>
        </p:nvSpPr>
        <p:spPr>
          <a:xfrm>
            <a:off x="3063240" y="2103120"/>
            <a:ext cx="64008" cy="1645920"/>
          </a:xfrm>
          <a:prstGeom prst="rect">
            <a:avLst/>
          </a:prstGeom>
          <a:solidFill>
            <a:srgbClr val="A06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394960" y="2103120"/>
            <a:ext cx="2011680" cy="1645920"/>
          </a:xfrm>
          <a:prstGeom prst="roundRect">
            <a:avLst/>
          </a:prstGeom>
          <a:solidFill>
            <a:srgbClr val="141D34"/>
          </a:solidFill>
          <a:ln>
            <a:solidFill>
              <a:srgbClr val="2E3E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rIns="164592" tIns="137160"/>
          <a:lstStyle/>
          <a:p>
            <a:pPr algn="ctr">
              <a:defRPr sz="1600" b="1">
                <a:solidFill>
                  <a:srgbClr val="F5F8FF"/>
                </a:solidFill>
              </a:defRPr>
            </a:pPr>
            <a:r>
              <a:t>Auth Middleware</a:t>
            </a:r>
          </a:p>
          <a:p>
            <a:pPr>
              <a:spcBef>
                <a:spcPts val="700"/>
              </a:spcBef>
              <a:defRPr sz="1150">
                <a:solidFill>
                  <a:srgbClr val="B1BED6"/>
                </a:solidFill>
              </a:defRPr>
            </a:pPr>
            <a:r>
              <a:t>JWT verification</a:t>
            </a:r>
            <a:br/>
            <a:r>
              <a:t>Role / ownership checks</a:t>
            </a:r>
          </a:p>
        </p:txBody>
      </p:sp>
      <p:sp>
        <p:nvSpPr>
          <p:cNvPr id="10" name="Rectangle 9"/>
          <p:cNvSpPr/>
          <p:nvPr/>
        </p:nvSpPr>
        <p:spPr>
          <a:xfrm>
            <a:off x="5394960" y="2103120"/>
            <a:ext cx="64008" cy="1645920"/>
          </a:xfrm>
          <a:prstGeom prst="rect">
            <a:avLst/>
          </a:prstGeom>
          <a:solidFill>
            <a:srgbClr val="41CD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726679" y="2103120"/>
            <a:ext cx="2011680" cy="1645920"/>
          </a:xfrm>
          <a:prstGeom prst="roundRect">
            <a:avLst/>
          </a:prstGeom>
          <a:solidFill>
            <a:srgbClr val="141D34"/>
          </a:solidFill>
          <a:ln>
            <a:solidFill>
              <a:srgbClr val="2E3E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rIns="164592" tIns="137160"/>
          <a:lstStyle/>
          <a:p>
            <a:pPr algn="ctr">
              <a:defRPr sz="1600" b="1">
                <a:solidFill>
                  <a:srgbClr val="F5F8FF"/>
                </a:solidFill>
              </a:defRPr>
            </a:pPr>
            <a:r>
              <a:t>Controllers &amp; Services</a:t>
            </a:r>
          </a:p>
          <a:p>
            <a:pPr>
              <a:spcBef>
                <a:spcPts val="700"/>
              </a:spcBef>
              <a:defRPr sz="1150">
                <a:solidFill>
                  <a:srgbClr val="B1BED6"/>
                </a:solidFill>
              </a:defRPr>
            </a:pPr>
            <a:r>
              <a:t>Business logic</a:t>
            </a:r>
            <a:br/>
            <a:r>
              <a:t>AI workflows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26679" y="2103120"/>
            <a:ext cx="64008" cy="1645920"/>
          </a:xfrm>
          <a:prstGeom prst="rect">
            <a:avLst/>
          </a:prstGeom>
          <a:solidFill>
            <a:srgbClr val="FFAE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058400" y="2103120"/>
            <a:ext cx="1508760" cy="1645920"/>
          </a:xfrm>
          <a:prstGeom prst="roundRect">
            <a:avLst/>
          </a:prstGeom>
          <a:solidFill>
            <a:srgbClr val="141D34"/>
          </a:solidFill>
          <a:ln>
            <a:solidFill>
              <a:srgbClr val="2E3E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rIns="164592" tIns="137160"/>
          <a:lstStyle/>
          <a:p>
            <a:pPr algn="ctr">
              <a:defRPr sz="1600" b="1">
                <a:solidFill>
                  <a:srgbClr val="F5F8FF"/>
                </a:solidFill>
              </a:defRPr>
            </a:pPr>
            <a:r>
              <a:t>Mongoose / MongoDB</a:t>
            </a:r>
          </a:p>
          <a:p>
            <a:pPr>
              <a:spcBef>
                <a:spcPts val="700"/>
              </a:spcBef>
              <a:defRPr sz="1150">
                <a:solidFill>
                  <a:srgbClr val="B1BED6"/>
                </a:solidFill>
              </a:defRPr>
            </a:pPr>
            <a:r>
              <a:t>Validation + persistence</a:t>
            </a:r>
            <a:br/>
            <a:r>
              <a:t>Indexed discovery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058400" y="2103120"/>
            <a:ext cx="64008" cy="1645920"/>
          </a:xfrm>
          <a:prstGeom prst="rect">
            <a:avLst/>
          </a:prstGeom>
          <a:solidFill>
            <a:srgbClr val="539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5" name="Connector 14"/>
          <p:cNvCxnSpPr/>
          <p:nvPr/>
        </p:nvCxnSpPr>
        <p:spPr>
          <a:xfrm>
            <a:off x="2743200" y="2926080"/>
            <a:ext cx="320040" cy="0"/>
          </a:xfrm>
          <a:prstGeom prst="line">
            <a:avLst/>
          </a:prstGeom>
          <a:ln w="25400">
            <a:solidFill>
              <a:srgbClr val="B1BE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5074920" y="2926080"/>
            <a:ext cx="320040" cy="0"/>
          </a:xfrm>
          <a:prstGeom prst="line">
            <a:avLst/>
          </a:prstGeom>
          <a:ln w="25400">
            <a:solidFill>
              <a:srgbClr val="B1BE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7406640" y="2926080"/>
            <a:ext cx="320039" cy="0"/>
          </a:xfrm>
          <a:prstGeom prst="line">
            <a:avLst/>
          </a:prstGeom>
          <a:ln w="25400">
            <a:solidFill>
              <a:srgbClr val="B1BE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9738360" y="2926080"/>
            <a:ext cx="320040" cy="0"/>
          </a:xfrm>
          <a:prstGeom prst="line">
            <a:avLst/>
          </a:prstGeom>
          <a:ln w="25400">
            <a:solidFill>
              <a:srgbClr val="B1BE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2926080" y="4251960"/>
            <a:ext cx="6309360" cy="1143000"/>
          </a:xfrm>
          <a:prstGeom prst="roundRect">
            <a:avLst/>
          </a:prstGeom>
          <a:solidFill>
            <a:srgbClr val="141D34"/>
          </a:solidFill>
          <a:ln>
            <a:solidFill>
              <a:srgbClr val="2E3E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rIns="164592" tIns="137160"/>
          <a:lstStyle/>
          <a:p>
            <a:pPr algn="ctr">
              <a:defRPr sz="1600" b="1">
                <a:solidFill>
                  <a:srgbClr val="F5F8FF"/>
                </a:solidFill>
              </a:defRPr>
            </a:pPr>
            <a:r>
              <a:t>AI Service Integration</a:t>
            </a:r>
          </a:p>
          <a:p>
            <a:pPr>
              <a:spcBef>
                <a:spcPts val="700"/>
              </a:spcBef>
              <a:defRPr sz="1150">
                <a:solidFill>
                  <a:srgbClr val="B1BED6"/>
                </a:solidFill>
              </a:defRPr>
            </a:pPr>
            <a:r>
              <a:t>Google Gemini SDK supports automated FAQ generation, topic generation and complex question-answering workflows.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926080" y="4251960"/>
            <a:ext cx="64008" cy="1143000"/>
          </a:xfrm>
          <a:prstGeom prst="rect">
            <a:avLst/>
          </a:prstGeom>
          <a:solidFill>
            <a:srgbClr val="A06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881360" y="6473952"/>
            <a:ext cx="640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B1BED6"/>
                </a:solidFill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539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5F8FF"/>
                </a:solidFill>
              </a:defRPr>
            </a:pPr>
            <a:r>
              <a:t>05 — Data Model &amp; ER Relationships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41248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B1BED6"/>
                </a:solidFill>
              </a:defRPr>
            </a:pPr>
            <a:r>
              <a:t>MongoDB collections with logical references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417320"/>
            <a:ext cx="2743200" cy="1508760"/>
          </a:xfrm>
          <a:prstGeom prst="roundRect">
            <a:avLst/>
          </a:prstGeom>
          <a:solidFill>
            <a:srgbClr val="141D34"/>
          </a:solidFill>
          <a:ln>
            <a:solidFill>
              <a:srgbClr val="2E3E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rIns="164592" tIns="137160"/>
          <a:lstStyle/>
          <a:p>
            <a:pPr algn="ctr">
              <a:defRPr sz="1600" b="1">
                <a:solidFill>
                  <a:srgbClr val="F5F8FF"/>
                </a:solidFill>
              </a:defRPr>
            </a:pPr>
            <a:r>
              <a:t>USER</a:t>
            </a:r>
          </a:p>
          <a:p>
            <a:pPr>
              <a:spcBef>
                <a:spcPts val="700"/>
              </a:spcBef>
              <a:defRPr sz="1150">
                <a:solidFill>
                  <a:srgbClr val="B1BED6"/>
                </a:solidFill>
              </a:defRPr>
            </a:pPr>
            <a:r>
              <a:t>_id • name • email • password • role</a:t>
            </a:r>
            <a:br/>
            <a:r>
              <a:t>createdAt • updatedAt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1417320"/>
            <a:ext cx="64008" cy="1508760"/>
          </a:xfrm>
          <a:prstGeom prst="rect">
            <a:avLst/>
          </a:prstGeom>
          <a:solidFill>
            <a:srgbClr val="539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709160" y="1417320"/>
            <a:ext cx="2743200" cy="1508760"/>
          </a:xfrm>
          <a:prstGeom prst="roundRect">
            <a:avLst/>
          </a:prstGeom>
          <a:solidFill>
            <a:srgbClr val="141D34"/>
          </a:solidFill>
          <a:ln>
            <a:solidFill>
              <a:srgbClr val="2E3E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rIns="164592" tIns="137160"/>
          <a:lstStyle/>
          <a:p>
            <a:pPr algn="ctr">
              <a:defRPr sz="1600" b="1">
                <a:solidFill>
                  <a:srgbClr val="F5F8FF"/>
                </a:solidFill>
              </a:defRPr>
            </a:pPr>
            <a:r>
              <a:t>FAQ</a:t>
            </a:r>
          </a:p>
          <a:p>
            <a:pPr>
              <a:spcBef>
                <a:spcPts val="700"/>
              </a:spcBef>
              <a:defRPr sz="1150">
                <a:solidFill>
                  <a:srgbClr val="B1BED6"/>
                </a:solidFill>
              </a:defRPr>
            </a:pPr>
            <a:r>
              <a:t>_id • question • answer • category</a:t>
            </a:r>
            <a:br/>
            <a:r>
              <a:t>createdBy • timestamps</a:t>
            </a:r>
          </a:p>
        </p:txBody>
      </p:sp>
      <p:sp>
        <p:nvSpPr>
          <p:cNvPr id="8" name="Rectangle 7"/>
          <p:cNvSpPr/>
          <p:nvPr/>
        </p:nvSpPr>
        <p:spPr>
          <a:xfrm>
            <a:off x="4709160" y="1417320"/>
            <a:ext cx="64008" cy="1508760"/>
          </a:xfrm>
          <a:prstGeom prst="rect">
            <a:avLst/>
          </a:prstGeom>
          <a:solidFill>
            <a:srgbClr val="A06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732520" y="1417320"/>
            <a:ext cx="2651760" cy="1508760"/>
          </a:xfrm>
          <a:prstGeom prst="roundRect">
            <a:avLst/>
          </a:prstGeom>
          <a:solidFill>
            <a:srgbClr val="141D34"/>
          </a:solidFill>
          <a:ln>
            <a:solidFill>
              <a:srgbClr val="2E3E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rIns="164592" tIns="137160"/>
          <a:lstStyle/>
          <a:p>
            <a:pPr algn="ctr">
              <a:defRPr sz="1600" b="1">
                <a:solidFill>
                  <a:srgbClr val="F5F8FF"/>
                </a:solidFill>
              </a:defRPr>
            </a:pPr>
            <a:r>
              <a:t>CATEGORY</a:t>
            </a:r>
          </a:p>
          <a:p>
            <a:pPr>
              <a:spcBef>
                <a:spcPts val="700"/>
              </a:spcBef>
              <a:defRPr sz="1150">
                <a:solidFill>
                  <a:srgbClr val="B1BED6"/>
                </a:solidFill>
              </a:defRPr>
            </a:pPr>
            <a:r>
              <a:t>categoryName • description</a:t>
            </a:r>
            <a:br/>
            <a:r>
              <a:t>totalFAQs</a:t>
            </a:r>
          </a:p>
        </p:txBody>
      </p:sp>
      <p:sp>
        <p:nvSpPr>
          <p:cNvPr id="10" name="Rectangle 9"/>
          <p:cNvSpPr/>
          <p:nvPr/>
        </p:nvSpPr>
        <p:spPr>
          <a:xfrm>
            <a:off x="8732520" y="1417320"/>
            <a:ext cx="64008" cy="1508760"/>
          </a:xfrm>
          <a:prstGeom prst="rect">
            <a:avLst/>
          </a:prstGeom>
          <a:solidFill>
            <a:srgbClr val="41CD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2743200" y="4069080"/>
            <a:ext cx="2926080" cy="1508760"/>
          </a:xfrm>
          <a:prstGeom prst="roundRect">
            <a:avLst/>
          </a:prstGeom>
          <a:solidFill>
            <a:srgbClr val="141D34"/>
          </a:solidFill>
          <a:ln>
            <a:solidFill>
              <a:srgbClr val="2E3E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rIns="164592" tIns="137160"/>
          <a:lstStyle/>
          <a:p>
            <a:pPr algn="ctr">
              <a:defRPr sz="1600" b="1">
                <a:solidFill>
                  <a:srgbClr val="F5F8FF"/>
                </a:solidFill>
              </a:defRPr>
            </a:pPr>
            <a:r>
              <a:t>AI GENERATION</a:t>
            </a:r>
          </a:p>
          <a:p>
            <a:pPr>
              <a:spcBef>
                <a:spcPts val="700"/>
              </a:spcBef>
              <a:defRPr sz="1150">
                <a:solidFill>
                  <a:srgbClr val="B1BED6"/>
                </a:solidFill>
              </a:defRPr>
            </a:pPr>
            <a:r>
              <a:t>topic • generatedQuestion</a:t>
            </a:r>
            <a:br/>
            <a:r>
              <a:t>answer • category • generatedAt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0" y="4069080"/>
            <a:ext cx="64008" cy="1508760"/>
          </a:xfrm>
          <a:prstGeom prst="rect">
            <a:avLst/>
          </a:prstGeom>
          <a:solidFill>
            <a:srgbClr val="FFAE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492240" y="4069080"/>
            <a:ext cx="2926080" cy="1508760"/>
          </a:xfrm>
          <a:prstGeom prst="roundRect">
            <a:avLst/>
          </a:prstGeom>
          <a:solidFill>
            <a:srgbClr val="141D34"/>
          </a:solidFill>
          <a:ln>
            <a:solidFill>
              <a:srgbClr val="2E3E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rIns="164592" tIns="137160"/>
          <a:lstStyle/>
          <a:p>
            <a:pPr algn="ctr">
              <a:defRPr sz="1600" b="1">
                <a:solidFill>
                  <a:srgbClr val="F5F8FF"/>
                </a:solidFill>
              </a:defRPr>
            </a:pPr>
            <a:r>
              <a:t>SEARCH RESULT</a:t>
            </a:r>
          </a:p>
          <a:p>
            <a:pPr>
              <a:spcBef>
                <a:spcPts val="700"/>
              </a:spcBef>
              <a:defRPr sz="1150">
                <a:solidFill>
                  <a:srgbClr val="B1BED6"/>
                </a:solidFill>
              </a:defRPr>
            </a:pPr>
            <a:r>
              <a:t>Logical relationship from query</a:t>
            </a:r>
            <a:br/>
            <a:r>
              <a:t>to matching FAQ documents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92240" y="4069080"/>
            <a:ext cx="64008" cy="1508760"/>
          </a:xfrm>
          <a:prstGeom prst="rect">
            <a:avLst/>
          </a:prstGeom>
          <a:solidFill>
            <a:srgbClr val="539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5" name="Connector 14"/>
          <p:cNvCxnSpPr/>
          <p:nvPr/>
        </p:nvCxnSpPr>
        <p:spPr>
          <a:xfrm>
            <a:off x="3429000" y="2194560"/>
            <a:ext cx="1280160" cy="0"/>
          </a:xfrm>
          <a:prstGeom prst="line">
            <a:avLst/>
          </a:prstGeom>
          <a:ln w="19050">
            <a:solidFill>
              <a:srgbClr val="B1BE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7452360" y="2194560"/>
            <a:ext cx="1280160" cy="0"/>
          </a:xfrm>
          <a:prstGeom prst="line">
            <a:avLst/>
          </a:prstGeom>
          <a:ln w="19050">
            <a:solidFill>
              <a:srgbClr val="B1BE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V="1">
            <a:off x="6080760" y="2926080"/>
            <a:ext cx="0" cy="1143000"/>
          </a:xfrm>
          <a:prstGeom prst="line">
            <a:avLst/>
          </a:prstGeom>
          <a:ln w="19050">
            <a:solidFill>
              <a:srgbClr val="B1BE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H="1" flipV="1">
            <a:off x="7452360" y="2926080"/>
            <a:ext cx="777240" cy="1874520"/>
          </a:xfrm>
          <a:prstGeom prst="line">
            <a:avLst/>
          </a:prstGeom>
          <a:ln w="19050">
            <a:solidFill>
              <a:srgbClr val="B1BE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685800" y="5715000"/>
            <a:ext cx="10698480" cy="502920"/>
          </a:xfrm>
          <a:prstGeom prst="roundRect">
            <a:avLst/>
          </a:prstGeom>
          <a:solidFill>
            <a:srgbClr val="141D34"/>
          </a:solidFill>
          <a:ln>
            <a:solidFill>
              <a:srgbClr val="2E3E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rIns="164592" tIns="137160"/>
          <a:lstStyle/>
          <a:p>
            <a:pPr algn="ctr">
              <a:defRPr sz="1600" b="1">
                <a:solidFill>
                  <a:srgbClr val="F5F8FF"/>
                </a:solidFill>
              </a:defRPr>
            </a:pPr>
            <a:r>
              <a:t>Key mappings</a:t>
            </a:r>
          </a:p>
          <a:p>
            <a:pPr>
              <a:spcBef>
                <a:spcPts val="700"/>
              </a:spcBef>
              <a:defRPr sz="1150">
                <a:solidFill>
                  <a:srgbClr val="B1BED6"/>
                </a:solidFill>
              </a:defRPr>
            </a:pPr>
            <a:r>
              <a:t>User → FAQ (1:M)   |   Category → FAQ (1:M)   |   User → AI Generated FAQ (1:M)   |   FAQ → Search Results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85800" y="5715000"/>
            <a:ext cx="64008" cy="502920"/>
          </a:xfrm>
          <a:prstGeom prst="rect">
            <a:avLst/>
          </a:prstGeom>
          <a:solidFill>
            <a:srgbClr val="539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881360" y="6473952"/>
            <a:ext cx="640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B1BED6"/>
                </a:solidFill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539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5F8FF"/>
                </a:solidFill>
              </a:defRPr>
            </a:pPr>
            <a:r>
              <a:t>06 — Key Features &amp; Security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41248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B1BED6"/>
                </a:solidFill>
              </a:defRPr>
            </a:pPr>
            <a:r>
              <a:t>Built around controlled access, data integrity and automation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234440"/>
            <a:ext cx="2514600" cy="1828800"/>
          </a:xfrm>
          <a:prstGeom prst="roundRect">
            <a:avLst/>
          </a:prstGeom>
          <a:solidFill>
            <a:srgbClr val="141D34"/>
          </a:solidFill>
          <a:ln>
            <a:solidFill>
              <a:srgbClr val="2E3E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rIns="164592" tIns="137160"/>
          <a:lstStyle/>
          <a:p>
            <a:pPr algn="ctr">
              <a:defRPr sz="1600" b="1">
                <a:solidFill>
                  <a:srgbClr val="F5F8FF"/>
                </a:solidFill>
              </a:defRPr>
            </a:pPr>
            <a:r>
              <a:t>JWT Authentication</a:t>
            </a:r>
          </a:p>
          <a:p>
            <a:pPr>
              <a:spcBef>
                <a:spcPts val="700"/>
              </a:spcBef>
              <a:defRPr sz="1150">
                <a:solidFill>
                  <a:srgbClr val="B1BED6"/>
                </a:solidFill>
              </a:defRPr>
            </a:pPr>
            <a:r>
              <a:t>Stateless tokens protect private API endpoints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234440"/>
            <a:ext cx="64008" cy="1828800"/>
          </a:xfrm>
          <a:prstGeom prst="rect">
            <a:avLst/>
          </a:prstGeom>
          <a:solidFill>
            <a:srgbClr val="539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474720" y="1234440"/>
            <a:ext cx="2514600" cy="1828800"/>
          </a:xfrm>
          <a:prstGeom prst="roundRect">
            <a:avLst/>
          </a:prstGeom>
          <a:solidFill>
            <a:srgbClr val="141D34"/>
          </a:solidFill>
          <a:ln>
            <a:solidFill>
              <a:srgbClr val="2E3E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rIns="164592" tIns="137160"/>
          <a:lstStyle/>
          <a:p>
            <a:pPr algn="ctr">
              <a:defRPr sz="1600" b="1">
                <a:solidFill>
                  <a:srgbClr val="F5F8FF"/>
                </a:solidFill>
              </a:defRPr>
            </a:pPr>
            <a:r>
              <a:t>bcrypt Encryption</a:t>
            </a:r>
          </a:p>
          <a:p>
            <a:pPr>
              <a:spcBef>
                <a:spcPts val="700"/>
              </a:spcBef>
              <a:defRPr sz="1150">
                <a:solidFill>
                  <a:srgbClr val="B1BED6"/>
                </a:solidFill>
              </a:defRPr>
            </a:pPr>
            <a:r>
              <a:t>Passwords are hashed before database persistence</a:t>
            </a:r>
          </a:p>
        </p:txBody>
      </p:sp>
      <p:sp>
        <p:nvSpPr>
          <p:cNvPr id="8" name="Rectangle 7"/>
          <p:cNvSpPr/>
          <p:nvPr/>
        </p:nvSpPr>
        <p:spPr>
          <a:xfrm>
            <a:off x="3474720" y="1234440"/>
            <a:ext cx="64008" cy="1828800"/>
          </a:xfrm>
          <a:prstGeom prst="rect">
            <a:avLst/>
          </a:prstGeom>
          <a:solidFill>
            <a:srgbClr val="A06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309360" y="1234440"/>
            <a:ext cx="2514600" cy="1828800"/>
          </a:xfrm>
          <a:prstGeom prst="roundRect">
            <a:avLst/>
          </a:prstGeom>
          <a:solidFill>
            <a:srgbClr val="141D34"/>
          </a:solidFill>
          <a:ln>
            <a:solidFill>
              <a:srgbClr val="2E3E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rIns="164592" tIns="137160"/>
          <a:lstStyle/>
          <a:p>
            <a:pPr algn="ctr">
              <a:defRPr sz="1600" b="1">
                <a:solidFill>
                  <a:srgbClr val="F5F8FF"/>
                </a:solidFill>
              </a:defRPr>
            </a:pPr>
            <a:r>
              <a:t>CRUD Operations</a:t>
            </a:r>
          </a:p>
          <a:p>
            <a:pPr>
              <a:spcBef>
                <a:spcPts val="700"/>
              </a:spcBef>
              <a:defRPr sz="1150">
                <a:solidFill>
                  <a:srgbClr val="B1BED6"/>
                </a:solidFill>
              </a:defRPr>
            </a:pPr>
            <a:r>
              <a:t>Create, read, update and delete FAQ records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09360" y="1234440"/>
            <a:ext cx="64008" cy="1828800"/>
          </a:xfrm>
          <a:prstGeom prst="rect">
            <a:avLst/>
          </a:prstGeom>
          <a:solidFill>
            <a:srgbClr val="41CD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9144000" y="1234440"/>
            <a:ext cx="2514600" cy="1828800"/>
          </a:xfrm>
          <a:prstGeom prst="roundRect">
            <a:avLst/>
          </a:prstGeom>
          <a:solidFill>
            <a:srgbClr val="141D34"/>
          </a:solidFill>
          <a:ln>
            <a:solidFill>
              <a:srgbClr val="2E3E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rIns="164592" tIns="137160"/>
          <a:lstStyle/>
          <a:p>
            <a:pPr algn="ctr">
              <a:defRPr sz="1600" b="1">
                <a:solidFill>
                  <a:srgbClr val="F5F8FF"/>
                </a:solidFill>
              </a:defRPr>
            </a:pPr>
            <a:r>
              <a:t>Schema Validation</a:t>
            </a:r>
          </a:p>
          <a:p>
            <a:pPr>
              <a:spcBef>
                <a:spcPts val="700"/>
              </a:spcBef>
              <a:defRPr sz="1150">
                <a:solidFill>
                  <a:srgbClr val="B1BED6"/>
                </a:solidFill>
              </a:defRPr>
            </a:pPr>
            <a:r>
              <a:t>Mongoose enforces required fields and data rules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144000" y="1234440"/>
            <a:ext cx="64008" cy="1828800"/>
          </a:xfrm>
          <a:prstGeom prst="rect">
            <a:avLst/>
          </a:prstGeom>
          <a:solidFill>
            <a:srgbClr val="FFAE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40080" y="3474720"/>
            <a:ext cx="2514600" cy="1828800"/>
          </a:xfrm>
          <a:prstGeom prst="roundRect">
            <a:avLst/>
          </a:prstGeom>
          <a:solidFill>
            <a:srgbClr val="141D34"/>
          </a:solidFill>
          <a:ln>
            <a:solidFill>
              <a:srgbClr val="2E3E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rIns="164592" tIns="137160"/>
          <a:lstStyle/>
          <a:p>
            <a:pPr algn="ctr">
              <a:defRPr sz="1600" b="1">
                <a:solidFill>
                  <a:srgbClr val="F5F8FF"/>
                </a:solidFill>
              </a:defRPr>
            </a:pPr>
            <a:r>
              <a:t>Role &amp; Ownership</a:t>
            </a:r>
          </a:p>
          <a:p>
            <a:pPr>
              <a:spcBef>
                <a:spcPts val="700"/>
              </a:spcBef>
              <a:defRPr sz="1150">
                <a:solidFill>
                  <a:srgbClr val="B1BED6"/>
                </a:solidFill>
              </a:defRPr>
            </a:pPr>
            <a:r>
              <a:t>Only authorized users can modify protected content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3474720"/>
            <a:ext cx="64008" cy="1828800"/>
          </a:xfrm>
          <a:prstGeom prst="rect">
            <a:avLst/>
          </a:prstGeom>
          <a:solidFill>
            <a:srgbClr val="539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3474720" y="3474720"/>
            <a:ext cx="2514600" cy="1828800"/>
          </a:xfrm>
          <a:prstGeom prst="roundRect">
            <a:avLst/>
          </a:prstGeom>
          <a:solidFill>
            <a:srgbClr val="141D34"/>
          </a:solidFill>
          <a:ln>
            <a:solidFill>
              <a:srgbClr val="2E3E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rIns="164592" tIns="137160"/>
          <a:lstStyle/>
          <a:p>
            <a:pPr algn="ctr">
              <a:defRPr sz="1600" b="1">
                <a:solidFill>
                  <a:srgbClr val="F5F8FF"/>
                </a:solidFill>
              </a:defRPr>
            </a:pPr>
            <a:r>
              <a:t>Centralized Errors</a:t>
            </a:r>
          </a:p>
          <a:p>
            <a:pPr>
              <a:spcBef>
                <a:spcPts val="700"/>
              </a:spcBef>
              <a:defRPr sz="1150">
                <a:solidFill>
                  <a:srgbClr val="B1BED6"/>
                </a:solidFill>
              </a:defRPr>
            </a:pPr>
            <a:r>
              <a:t>Sanitized responses reduce accidental database leakage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474720" y="3474720"/>
            <a:ext cx="64008" cy="1828800"/>
          </a:xfrm>
          <a:prstGeom prst="rect">
            <a:avLst/>
          </a:prstGeom>
          <a:solidFill>
            <a:srgbClr val="A06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309360" y="3474720"/>
            <a:ext cx="2514600" cy="1828800"/>
          </a:xfrm>
          <a:prstGeom prst="roundRect">
            <a:avLst/>
          </a:prstGeom>
          <a:solidFill>
            <a:srgbClr val="141D34"/>
          </a:solidFill>
          <a:ln>
            <a:solidFill>
              <a:srgbClr val="2E3E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rIns="164592" tIns="137160"/>
          <a:lstStyle/>
          <a:p>
            <a:pPr algn="ctr">
              <a:defRPr sz="1600" b="1">
                <a:solidFill>
                  <a:srgbClr val="F5F8FF"/>
                </a:solidFill>
              </a:defRPr>
            </a:pPr>
            <a:r>
              <a:t>RESTful Design</a:t>
            </a:r>
          </a:p>
          <a:p>
            <a:pPr>
              <a:spcBef>
                <a:spcPts val="700"/>
              </a:spcBef>
              <a:defRPr sz="1150">
                <a:solidFill>
                  <a:srgbClr val="B1BED6"/>
                </a:solidFill>
              </a:defRPr>
            </a:pPr>
            <a:r>
              <a:t>Modular routes support scalable service integration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09360" y="3474720"/>
            <a:ext cx="64008" cy="1828800"/>
          </a:xfrm>
          <a:prstGeom prst="rect">
            <a:avLst/>
          </a:prstGeom>
          <a:solidFill>
            <a:srgbClr val="41CD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9144000" y="3474720"/>
            <a:ext cx="2514600" cy="1828800"/>
          </a:xfrm>
          <a:prstGeom prst="roundRect">
            <a:avLst/>
          </a:prstGeom>
          <a:solidFill>
            <a:srgbClr val="141D34"/>
          </a:solidFill>
          <a:ln>
            <a:solidFill>
              <a:srgbClr val="2E3E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rIns="164592" tIns="137160"/>
          <a:lstStyle/>
          <a:p>
            <a:pPr algn="ctr">
              <a:defRPr sz="1600" b="1">
                <a:solidFill>
                  <a:srgbClr val="F5F8FF"/>
                </a:solidFill>
              </a:defRPr>
            </a:pPr>
            <a:r>
              <a:t>MongoDB Integration</a:t>
            </a:r>
          </a:p>
          <a:p>
            <a:pPr>
              <a:spcBef>
                <a:spcPts val="700"/>
              </a:spcBef>
              <a:defRPr sz="1150">
                <a:solidFill>
                  <a:srgbClr val="B1BED6"/>
                </a:solidFill>
              </a:defRPr>
            </a:pPr>
            <a:r>
              <a:t>Flexible document storage with Mongoose ODM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144000" y="3474720"/>
            <a:ext cx="64008" cy="1828800"/>
          </a:xfrm>
          <a:prstGeom prst="rect">
            <a:avLst/>
          </a:prstGeom>
          <a:solidFill>
            <a:srgbClr val="FFAE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881360" y="6473952"/>
            <a:ext cx="640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B1BED6"/>
                </a:solidFill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539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5F8FF"/>
                </a:solidFill>
              </a:defRPr>
            </a:pPr>
            <a:r>
              <a:t>07 — Roles &amp; User 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41248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B1BED6"/>
                </a:solidFill>
              </a:defRPr>
            </a:pPr>
            <a:r>
              <a:t>Different access levels keep content creation and consumption controlled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2514600" cy="2103120"/>
          </a:xfrm>
          <a:prstGeom prst="roundRect">
            <a:avLst/>
          </a:prstGeom>
          <a:solidFill>
            <a:srgbClr val="141D34"/>
          </a:solidFill>
          <a:ln>
            <a:solidFill>
              <a:srgbClr val="2E3E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rIns="164592" tIns="137160"/>
          <a:lstStyle/>
          <a:p>
            <a:pPr algn="ctr">
              <a:defRPr sz="1600" b="1">
                <a:solidFill>
                  <a:srgbClr val="F5F8FF"/>
                </a:solidFill>
              </a:defRPr>
            </a:pPr>
            <a:r>
              <a:t>Admin</a:t>
            </a:r>
          </a:p>
          <a:p>
            <a:pPr>
              <a:spcBef>
                <a:spcPts val="700"/>
              </a:spcBef>
              <a:defRPr sz="1150">
                <a:solidFill>
                  <a:srgbClr val="B1BED6"/>
                </a:solidFill>
              </a:defRPr>
            </a:pPr>
            <a:r>
              <a:t>Users • all FAQs • categories • AI content • full system control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417320"/>
            <a:ext cx="64008" cy="2103120"/>
          </a:xfrm>
          <a:prstGeom prst="rect">
            <a:avLst/>
          </a:prstGeom>
          <a:solidFill>
            <a:srgbClr val="539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456432" y="1417320"/>
            <a:ext cx="2514600" cy="2103120"/>
          </a:xfrm>
          <a:prstGeom prst="roundRect">
            <a:avLst/>
          </a:prstGeom>
          <a:solidFill>
            <a:srgbClr val="141D34"/>
          </a:solidFill>
          <a:ln>
            <a:solidFill>
              <a:srgbClr val="2E3E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rIns="164592" tIns="137160"/>
          <a:lstStyle/>
          <a:p>
            <a:pPr algn="ctr">
              <a:defRPr sz="1600" b="1">
                <a:solidFill>
                  <a:srgbClr val="F5F8FF"/>
                </a:solidFill>
              </a:defRPr>
            </a:pPr>
            <a:r>
              <a:t>Content Creator</a:t>
            </a:r>
          </a:p>
          <a:p>
            <a:pPr>
              <a:spcBef>
                <a:spcPts val="700"/>
              </a:spcBef>
              <a:defRPr sz="1150">
                <a:solidFill>
                  <a:srgbClr val="B1BED6"/>
                </a:solidFill>
              </a:defRPr>
            </a:pPr>
            <a:r>
              <a:t>Create/edit/delete owned FAQs • AI generation • categories</a:t>
            </a:r>
          </a:p>
        </p:txBody>
      </p:sp>
      <p:sp>
        <p:nvSpPr>
          <p:cNvPr id="8" name="Rectangle 7"/>
          <p:cNvSpPr/>
          <p:nvPr/>
        </p:nvSpPr>
        <p:spPr>
          <a:xfrm>
            <a:off x="3456432" y="1417320"/>
            <a:ext cx="64008" cy="2103120"/>
          </a:xfrm>
          <a:prstGeom prst="rect">
            <a:avLst/>
          </a:prstGeom>
          <a:solidFill>
            <a:srgbClr val="A06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272784" y="1417320"/>
            <a:ext cx="2514600" cy="2103120"/>
          </a:xfrm>
          <a:prstGeom prst="roundRect">
            <a:avLst/>
          </a:prstGeom>
          <a:solidFill>
            <a:srgbClr val="141D34"/>
          </a:solidFill>
          <a:ln>
            <a:solidFill>
              <a:srgbClr val="2E3E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rIns="164592" tIns="137160"/>
          <a:lstStyle/>
          <a:p>
            <a:pPr algn="ctr">
              <a:defRPr sz="1600" b="1">
                <a:solidFill>
                  <a:srgbClr val="F5F8FF"/>
                </a:solidFill>
              </a:defRPr>
            </a:pPr>
            <a:r>
              <a:t>Authenticated User</a:t>
            </a:r>
          </a:p>
          <a:p>
            <a:pPr>
              <a:spcBef>
                <a:spcPts val="700"/>
              </a:spcBef>
              <a:defRPr sz="1150">
                <a:solidFill>
                  <a:srgbClr val="B1BED6"/>
                </a:solidFill>
              </a:defRPr>
            </a:pPr>
            <a:r>
              <a:t>View/search FAQs • AI-assisted answers • own profile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72784" y="1417320"/>
            <a:ext cx="64008" cy="2103120"/>
          </a:xfrm>
          <a:prstGeom prst="rect">
            <a:avLst/>
          </a:prstGeom>
          <a:solidFill>
            <a:srgbClr val="41CD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9089136" y="1417320"/>
            <a:ext cx="2514600" cy="2103120"/>
          </a:xfrm>
          <a:prstGeom prst="roundRect">
            <a:avLst/>
          </a:prstGeom>
          <a:solidFill>
            <a:srgbClr val="141D34"/>
          </a:solidFill>
          <a:ln>
            <a:solidFill>
              <a:srgbClr val="2E3E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rIns="164592" tIns="137160"/>
          <a:lstStyle/>
          <a:p>
            <a:pPr algn="ctr">
              <a:defRPr sz="1600" b="1">
                <a:solidFill>
                  <a:srgbClr val="F5F8FF"/>
                </a:solidFill>
              </a:defRPr>
            </a:pPr>
            <a:r>
              <a:t>Public User</a:t>
            </a:r>
          </a:p>
          <a:p>
            <a:pPr>
              <a:spcBef>
                <a:spcPts val="700"/>
              </a:spcBef>
              <a:defRPr sz="1150">
                <a:solidFill>
                  <a:srgbClr val="B1BED6"/>
                </a:solidFill>
              </a:defRPr>
            </a:pPr>
            <a:r>
              <a:t>View published FAQs • search • no protected operations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089136" y="1417320"/>
            <a:ext cx="64008" cy="2103120"/>
          </a:xfrm>
          <a:prstGeom prst="rect">
            <a:avLst/>
          </a:prstGeom>
          <a:solidFill>
            <a:srgbClr val="FFAE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731520" y="4572000"/>
            <a:ext cx="1325880" cy="731520"/>
          </a:xfrm>
          <a:prstGeom prst="roundRect">
            <a:avLst/>
          </a:prstGeom>
          <a:solidFill>
            <a:srgbClr val="1B2745"/>
          </a:solidFill>
          <a:ln>
            <a:solidFill>
              <a:srgbClr val="539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5F8FF"/>
                </a:solidFill>
              </a:defRPr>
            </a:pPr>
            <a:r>
              <a:t>Register / Login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2057400" y="4937760"/>
            <a:ext cx="685800" cy="0"/>
          </a:xfrm>
          <a:prstGeom prst="line">
            <a:avLst/>
          </a:prstGeom>
          <a:ln>
            <a:solidFill>
              <a:srgbClr val="B1BE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2743200" y="4572000"/>
            <a:ext cx="1325880" cy="731520"/>
          </a:xfrm>
          <a:prstGeom prst="roundRect">
            <a:avLst/>
          </a:prstGeom>
          <a:solidFill>
            <a:srgbClr val="1B2745"/>
          </a:solidFill>
          <a:ln>
            <a:solidFill>
              <a:srgbClr val="539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5F8FF"/>
                </a:solidFill>
              </a:defRPr>
            </a:pPr>
            <a:r>
              <a:t>JWT Issued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4069080" y="4937760"/>
            <a:ext cx="685800" cy="0"/>
          </a:xfrm>
          <a:prstGeom prst="line">
            <a:avLst/>
          </a:prstGeom>
          <a:ln>
            <a:solidFill>
              <a:srgbClr val="B1BE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4754880" y="4572000"/>
            <a:ext cx="1325880" cy="731520"/>
          </a:xfrm>
          <a:prstGeom prst="roundRect">
            <a:avLst/>
          </a:prstGeom>
          <a:solidFill>
            <a:srgbClr val="1B2745"/>
          </a:solidFill>
          <a:ln>
            <a:solidFill>
              <a:srgbClr val="539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5F8FF"/>
                </a:solidFill>
              </a:defRPr>
            </a:pPr>
            <a:r>
              <a:t>Protected Request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6080760" y="4937760"/>
            <a:ext cx="731520" cy="0"/>
          </a:xfrm>
          <a:prstGeom prst="line">
            <a:avLst/>
          </a:prstGeom>
          <a:ln>
            <a:solidFill>
              <a:srgbClr val="B1BE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6812280" y="4572000"/>
            <a:ext cx="1325880" cy="731520"/>
          </a:xfrm>
          <a:prstGeom prst="roundRect">
            <a:avLst/>
          </a:prstGeom>
          <a:solidFill>
            <a:srgbClr val="1B2745"/>
          </a:solidFill>
          <a:ln>
            <a:solidFill>
              <a:srgbClr val="539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5F8FF"/>
                </a:solidFill>
              </a:defRPr>
            </a:pPr>
            <a:r>
              <a:t>Controller / AI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8138160" y="4937760"/>
            <a:ext cx="731520" cy="0"/>
          </a:xfrm>
          <a:prstGeom prst="line">
            <a:avLst/>
          </a:prstGeom>
          <a:ln>
            <a:solidFill>
              <a:srgbClr val="B1BE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8869680" y="4572000"/>
            <a:ext cx="1325880" cy="731520"/>
          </a:xfrm>
          <a:prstGeom prst="roundRect">
            <a:avLst/>
          </a:prstGeom>
          <a:solidFill>
            <a:srgbClr val="1B2745"/>
          </a:solidFill>
          <a:ln>
            <a:solidFill>
              <a:srgbClr val="539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5F8FF"/>
                </a:solidFill>
              </a:defRPr>
            </a:pPr>
            <a:r>
              <a:t>MongoDB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10195559" y="4937760"/>
            <a:ext cx="91441" cy="0"/>
          </a:xfrm>
          <a:prstGeom prst="line">
            <a:avLst/>
          </a:prstGeom>
          <a:ln>
            <a:solidFill>
              <a:srgbClr val="B1BE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10287000" y="4572000"/>
            <a:ext cx="1325880" cy="731520"/>
          </a:xfrm>
          <a:prstGeom prst="roundRect">
            <a:avLst/>
          </a:prstGeom>
          <a:solidFill>
            <a:srgbClr val="1B2745"/>
          </a:solidFill>
          <a:ln>
            <a:solidFill>
              <a:srgbClr val="539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5F8FF"/>
                </a:solidFill>
              </a:defRPr>
            </a:pPr>
            <a:r>
              <a:t>JSON Response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881360" y="6473952"/>
            <a:ext cx="640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B1BED6"/>
                </a:solidFill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539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5F8FF"/>
                </a:solidFill>
              </a:defRPr>
            </a:pPr>
            <a:r>
              <a:t>08 — MVC Architecture Pattern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41248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B1BED6"/>
                </a:solidFill>
              </a:defRPr>
            </a:pPr>
            <a:r>
              <a:t>Headless backend: the API routing layer acts as the interface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3291840" cy="4023360"/>
          </a:xfrm>
          <a:prstGeom prst="roundRect">
            <a:avLst/>
          </a:prstGeom>
          <a:solidFill>
            <a:srgbClr val="141D34"/>
          </a:solidFill>
          <a:ln>
            <a:solidFill>
              <a:srgbClr val="2E3E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rIns="164592" tIns="137160"/>
          <a:lstStyle/>
          <a:p>
            <a:pPr algn="ctr">
              <a:defRPr sz="1600" b="1">
                <a:solidFill>
                  <a:srgbClr val="F5F8FF"/>
                </a:solidFill>
              </a:defRPr>
            </a:pPr>
            <a:r>
              <a:t>MODEL — Data Blueprint</a:t>
            </a:r>
          </a:p>
          <a:p>
            <a:pPr>
              <a:spcBef>
                <a:spcPts val="700"/>
              </a:spcBef>
              <a:defRPr sz="1150">
                <a:solidFill>
                  <a:srgbClr val="B1BED6"/>
                </a:solidFill>
              </a:defRPr>
            </a:pPr>
            <a:r>
              <a:t>Mongoose schemas define fields, validation rules, defaults and database mappings.</a:t>
            </a:r>
            <a:br/>
            <a:br/>
            <a:r>
              <a:t>Examples:</a:t>
            </a:r>
            <a:br/>
            <a:r>
              <a:t>User.js</a:t>
            </a:r>
            <a:br/>
            <a:r>
              <a:t>FAQ.js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371600"/>
            <a:ext cx="64008" cy="4023360"/>
          </a:xfrm>
          <a:prstGeom prst="rect">
            <a:avLst/>
          </a:prstGeom>
          <a:solidFill>
            <a:srgbClr val="539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434840" y="1371600"/>
            <a:ext cx="3291840" cy="4023360"/>
          </a:xfrm>
          <a:prstGeom prst="roundRect">
            <a:avLst/>
          </a:prstGeom>
          <a:solidFill>
            <a:srgbClr val="141D34"/>
          </a:solidFill>
          <a:ln>
            <a:solidFill>
              <a:srgbClr val="2E3E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rIns="164592" tIns="137160"/>
          <a:lstStyle/>
          <a:p>
            <a:pPr algn="ctr">
              <a:defRPr sz="1600" b="1">
                <a:solidFill>
                  <a:srgbClr val="F5F8FF"/>
                </a:solidFill>
              </a:defRPr>
            </a:pPr>
            <a:r>
              <a:t>CONTROLLER — Execution Matrix</a:t>
            </a:r>
          </a:p>
          <a:p>
            <a:pPr>
              <a:spcBef>
                <a:spcPts val="700"/>
              </a:spcBef>
              <a:defRPr sz="1150">
                <a:solidFill>
                  <a:srgbClr val="B1BED6"/>
                </a:solidFill>
              </a:defRPr>
            </a:pPr>
            <a:r>
              <a:t>Receives requests, validates inputs, delegates business logic, calls models/services and returns standardized JSON responses.</a:t>
            </a:r>
          </a:p>
        </p:txBody>
      </p:sp>
      <p:sp>
        <p:nvSpPr>
          <p:cNvPr id="8" name="Rectangle 7"/>
          <p:cNvSpPr/>
          <p:nvPr/>
        </p:nvSpPr>
        <p:spPr>
          <a:xfrm>
            <a:off x="4434840" y="1371600"/>
            <a:ext cx="64008" cy="4023360"/>
          </a:xfrm>
          <a:prstGeom prst="rect">
            <a:avLst/>
          </a:prstGeom>
          <a:solidFill>
            <a:srgbClr val="A06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229600" y="1371600"/>
            <a:ext cx="3291840" cy="4023360"/>
          </a:xfrm>
          <a:prstGeom prst="roundRect">
            <a:avLst/>
          </a:prstGeom>
          <a:solidFill>
            <a:srgbClr val="141D34"/>
          </a:solidFill>
          <a:ln>
            <a:solidFill>
              <a:srgbClr val="2E3E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rIns="164592" tIns="137160"/>
          <a:lstStyle/>
          <a:p>
            <a:pPr algn="ctr">
              <a:defRPr sz="1600" b="1">
                <a:solidFill>
                  <a:srgbClr val="F5F8FF"/>
                </a:solidFill>
              </a:defRPr>
            </a:pPr>
            <a:r>
              <a:t>VIEW / ROUTING — API Interface</a:t>
            </a:r>
          </a:p>
          <a:p>
            <a:pPr>
              <a:spcBef>
                <a:spcPts val="700"/>
              </a:spcBef>
              <a:defRPr sz="1150">
                <a:solidFill>
                  <a:srgbClr val="B1BED6"/>
                </a:solidFill>
              </a:defRPr>
            </a:pPr>
            <a:r>
              <a:t>Because this is a headless backend, traditional templates are absent. Express routes connect API paths to controller handlers.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0" y="1371600"/>
            <a:ext cx="64008" cy="4023360"/>
          </a:xfrm>
          <a:prstGeom prst="rect">
            <a:avLst/>
          </a:prstGeom>
          <a:solidFill>
            <a:srgbClr val="41CD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881360" y="6473952"/>
            <a:ext cx="640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B1BED6"/>
                </a:solidFill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539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5F8FF"/>
                </a:solidFill>
              </a:defRPr>
            </a:pPr>
            <a:r>
              <a:t>09 — Project Setup &amp; Backend Development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41248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B1BED6"/>
                </a:solidFill>
              </a:defRPr>
            </a:pPr>
            <a:r>
              <a:t>Core commands and modular folder structure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234440"/>
            <a:ext cx="5212080" cy="2057400"/>
          </a:xfrm>
          <a:prstGeom prst="roundRect">
            <a:avLst/>
          </a:prstGeom>
          <a:solidFill>
            <a:srgbClr val="070C18"/>
          </a:solidFill>
          <a:ln>
            <a:solidFill>
              <a:srgbClr val="2D3E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tIns="137160"/>
          <a:lstStyle/>
          <a:p>
            <a:pPr algn="ctr">
              <a:defRPr sz="1100" b="1">
                <a:solidFill>
                  <a:srgbClr val="5397FF"/>
                </a:solidFill>
              </a:defRPr>
            </a:pPr>
            <a:r>
              <a:t>Terminal Setup</a:t>
            </a:r>
          </a:p>
          <a:p>
            <a:pPr>
              <a:defRPr sz="1050">
                <a:solidFill>
                  <a:srgbClr val="F5F8FF"/>
                </a:solidFill>
                <a:latin typeface="Consolas"/>
              </a:defRPr>
            </a:pPr>
            <a:r>
              <a:t>npm init -y</a:t>
            </a:r>
            <a:br/>
            <a:r>
              <a:t>npm install express mongoose dotenv cors jsonwebtoken bcrypt @google/genai</a:t>
            </a:r>
            <a:br/>
            <a:br/>
            <a:r>
              <a:t>npm run dev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72200" y="1234440"/>
            <a:ext cx="5349240" cy="2057400"/>
          </a:xfrm>
          <a:prstGeom prst="roundRect">
            <a:avLst/>
          </a:prstGeom>
          <a:solidFill>
            <a:srgbClr val="141D34"/>
          </a:solidFill>
          <a:ln>
            <a:solidFill>
              <a:srgbClr val="2E3E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rIns="164592" tIns="137160"/>
          <a:lstStyle/>
          <a:p>
            <a:pPr algn="ctr">
              <a:defRPr sz="1600" b="1">
                <a:solidFill>
                  <a:srgbClr val="F5F8FF"/>
                </a:solidFill>
              </a:defRPr>
            </a:pPr>
            <a:r>
              <a:t>Folder Structure</a:t>
            </a:r>
          </a:p>
          <a:p>
            <a:pPr>
              <a:spcBef>
                <a:spcPts val="700"/>
              </a:spcBef>
              <a:defRPr sz="1150">
                <a:solidFill>
                  <a:srgbClr val="B1BED6"/>
                </a:solidFill>
              </a:defRPr>
            </a:pPr>
            <a:r>
              <a:t>src/</a:t>
            </a:r>
            <a:br/>
            <a:r>
              <a:t>  server.js</a:t>
            </a:r>
            <a:br/>
            <a:r>
              <a:t>  app.js</a:t>
            </a:r>
            <a:br/>
            <a:r>
              <a:t>  middleware/</a:t>
            </a:r>
            <a:br/>
            <a:r>
              <a:t>  models/</a:t>
            </a:r>
            <a:br/>
            <a:r>
              <a:t>  routes/</a:t>
            </a:r>
            <a:br/>
            <a:r>
              <a:t>  controllers/</a:t>
            </a:r>
            <a:br/>
            <a:r>
              <a:t>.env</a:t>
            </a:r>
            <a:br/>
            <a:r>
              <a:t>package.json</a:t>
            </a:r>
          </a:p>
        </p:txBody>
      </p:sp>
      <p:sp>
        <p:nvSpPr>
          <p:cNvPr id="7" name="Rectangle 6"/>
          <p:cNvSpPr/>
          <p:nvPr/>
        </p:nvSpPr>
        <p:spPr>
          <a:xfrm>
            <a:off x="6172200" y="1234440"/>
            <a:ext cx="64008" cy="2057400"/>
          </a:xfrm>
          <a:prstGeom prst="rect">
            <a:avLst/>
          </a:prstGeom>
          <a:solidFill>
            <a:srgbClr val="A06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40080" y="3703320"/>
            <a:ext cx="10881360" cy="1737360"/>
          </a:xfrm>
          <a:prstGeom prst="roundRect">
            <a:avLst/>
          </a:prstGeom>
          <a:solidFill>
            <a:srgbClr val="141D34"/>
          </a:solidFill>
          <a:ln>
            <a:solidFill>
              <a:srgbClr val="2E3E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rIns="164592" tIns="137160"/>
          <a:lstStyle/>
          <a:p>
            <a:pPr algn="ctr">
              <a:defRPr sz="1600" b="1">
                <a:solidFill>
                  <a:srgbClr val="F5F8FF"/>
                </a:solidFill>
              </a:defRPr>
            </a:pPr>
            <a:r>
              <a:t>Core Modules</a:t>
            </a:r>
          </a:p>
          <a:p>
            <a:pPr>
              <a:spcBef>
                <a:spcPts val="700"/>
              </a:spcBef>
              <a:defRPr sz="1150">
                <a:solidFill>
                  <a:srgbClr val="B1BED6"/>
                </a:solidFill>
              </a:defRPr>
            </a:pPr>
            <a:r>
              <a:t>Gateway server • Express setup • authentication middleware • centralized error middleware • User/FAQ schemas • auth/FAQ/AI routes • MongoDB connection • Gemini service integration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3703320"/>
            <a:ext cx="64008" cy="1737360"/>
          </a:xfrm>
          <a:prstGeom prst="rect">
            <a:avLst/>
          </a:prstGeom>
          <a:solidFill>
            <a:srgbClr val="41CD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881360" y="6473952"/>
            <a:ext cx="640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B1BED6"/>
                </a:solidFill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539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5F8FF"/>
                </a:solidFill>
              </a:defRPr>
            </a:pPr>
            <a:r>
              <a:t>10 — API Testing &amp; Execution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41248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B1BED6"/>
                </a:solidFill>
              </a:defRPr>
            </a:pPr>
            <a:r>
              <a:t>Postman / ThunderClient can verify authentication, CRUD, search and AI routes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23444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5397FF"/>
                </a:solidFill>
              </a:defRPr>
            </a:pPr>
            <a:r>
              <a:t>METHOD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8760" y="1234440"/>
            <a:ext cx="3017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5397FF"/>
                </a:solidFill>
              </a:defRPr>
            </a:pPr>
            <a:r>
              <a:t>ENDPOINT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54880" y="123444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5397FF"/>
                </a:solidFill>
              </a:defRPr>
            </a:pPr>
            <a:r>
              <a:t>ACCESS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52360" y="123444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5397FF"/>
                </a:solidFill>
              </a:defRPr>
            </a:pPr>
            <a:r>
              <a:t>PURPOSE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1737360"/>
            <a:ext cx="731520" cy="566928"/>
          </a:xfrm>
          <a:prstGeom prst="roundRect">
            <a:avLst/>
          </a:prstGeom>
          <a:solidFill>
            <a:srgbClr val="141D34"/>
          </a:solidFill>
          <a:ln>
            <a:solidFill>
              <a:srgbClr val="2E3E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F5F8FF"/>
                </a:solidFill>
              </a:defRPr>
            </a:pPr>
            <a:r>
              <a:t>POST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508760" y="1737360"/>
            <a:ext cx="3017520" cy="566928"/>
          </a:xfrm>
          <a:prstGeom prst="roundRect">
            <a:avLst/>
          </a:prstGeom>
          <a:solidFill>
            <a:srgbClr val="141D34"/>
          </a:solidFill>
          <a:ln>
            <a:solidFill>
              <a:srgbClr val="2E3E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>
                <a:solidFill>
                  <a:srgbClr val="F5F8FF"/>
                </a:solidFill>
              </a:defRPr>
            </a:pPr>
            <a:r>
              <a:t>/api/auth/register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754880" y="1737360"/>
            <a:ext cx="1828800" cy="566928"/>
          </a:xfrm>
          <a:prstGeom prst="roundRect">
            <a:avLst/>
          </a:prstGeom>
          <a:solidFill>
            <a:srgbClr val="141D34"/>
          </a:solidFill>
          <a:ln>
            <a:solidFill>
              <a:srgbClr val="2E3E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>
                <a:solidFill>
                  <a:srgbClr val="F5F8FF"/>
                </a:solidFill>
              </a:defRPr>
            </a:pPr>
            <a:r>
              <a:t>Public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452360" y="1737360"/>
            <a:ext cx="3840480" cy="566928"/>
          </a:xfrm>
          <a:prstGeom prst="roundRect">
            <a:avLst/>
          </a:prstGeom>
          <a:solidFill>
            <a:srgbClr val="141D34"/>
          </a:solidFill>
          <a:ln>
            <a:solidFill>
              <a:srgbClr val="2E3E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>
                <a:solidFill>
                  <a:srgbClr val="F5F8FF"/>
                </a:solidFill>
              </a:defRPr>
            </a:pPr>
            <a:r>
              <a:t>Register a user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4360" y="2487168"/>
            <a:ext cx="731520" cy="566928"/>
          </a:xfrm>
          <a:prstGeom prst="roundRect">
            <a:avLst/>
          </a:prstGeom>
          <a:solidFill>
            <a:srgbClr val="141D34"/>
          </a:solidFill>
          <a:ln>
            <a:solidFill>
              <a:srgbClr val="2E3E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F5F8FF"/>
                </a:solidFill>
              </a:defRPr>
            </a:pPr>
            <a:r>
              <a:t>POST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508760" y="2487168"/>
            <a:ext cx="3017520" cy="566928"/>
          </a:xfrm>
          <a:prstGeom prst="roundRect">
            <a:avLst/>
          </a:prstGeom>
          <a:solidFill>
            <a:srgbClr val="141D34"/>
          </a:solidFill>
          <a:ln>
            <a:solidFill>
              <a:srgbClr val="2E3E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>
                <a:solidFill>
                  <a:srgbClr val="F5F8FF"/>
                </a:solidFill>
              </a:defRPr>
            </a:pPr>
            <a:r>
              <a:t>/api/auth/login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754880" y="2487168"/>
            <a:ext cx="1828800" cy="566928"/>
          </a:xfrm>
          <a:prstGeom prst="roundRect">
            <a:avLst/>
          </a:prstGeom>
          <a:solidFill>
            <a:srgbClr val="141D34"/>
          </a:solidFill>
          <a:ln>
            <a:solidFill>
              <a:srgbClr val="2E3E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>
                <a:solidFill>
                  <a:srgbClr val="F5F8FF"/>
                </a:solidFill>
              </a:defRPr>
            </a:pPr>
            <a:r>
              <a:t>Public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452360" y="2487168"/>
            <a:ext cx="3840480" cy="566928"/>
          </a:xfrm>
          <a:prstGeom prst="roundRect">
            <a:avLst/>
          </a:prstGeom>
          <a:solidFill>
            <a:srgbClr val="141D34"/>
          </a:solidFill>
          <a:ln>
            <a:solidFill>
              <a:srgbClr val="2E3E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>
                <a:solidFill>
                  <a:srgbClr val="F5F8FF"/>
                </a:solidFill>
              </a:defRPr>
            </a:pPr>
            <a:r>
              <a:t>Verify credentials + receive JWT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4360" y="3236976"/>
            <a:ext cx="731520" cy="566928"/>
          </a:xfrm>
          <a:prstGeom prst="roundRect">
            <a:avLst/>
          </a:prstGeom>
          <a:solidFill>
            <a:srgbClr val="141D34"/>
          </a:solidFill>
          <a:ln>
            <a:solidFill>
              <a:srgbClr val="2E3E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F5F8FF"/>
                </a:solidFill>
              </a:defRPr>
            </a:pPr>
            <a:r>
              <a:t>POST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508760" y="3236976"/>
            <a:ext cx="3017520" cy="566928"/>
          </a:xfrm>
          <a:prstGeom prst="roundRect">
            <a:avLst/>
          </a:prstGeom>
          <a:solidFill>
            <a:srgbClr val="141D34"/>
          </a:solidFill>
          <a:ln>
            <a:solidFill>
              <a:srgbClr val="2E3E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>
                <a:solidFill>
                  <a:srgbClr val="F5F8FF"/>
                </a:solidFill>
              </a:defRPr>
            </a:pPr>
            <a:r>
              <a:t>/api/faqs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754880" y="3236976"/>
            <a:ext cx="1828800" cy="566928"/>
          </a:xfrm>
          <a:prstGeom prst="roundRect">
            <a:avLst/>
          </a:prstGeom>
          <a:solidFill>
            <a:srgbClr val="141D34"/>
          </a:solidFill>
          <a:ln>
            <a:solidFill>
              <a:srgbClr val="2E3E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>
                <a:solidFill>
                  <a:srgbClr val="F5F8FF"/>
                </a:solidFill>
              </a:defRPr>
            </a:pPr>
            <a:r>
              <a:t>Private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452360" y="3236976"/>
            <a:ext cx="3840480" cy="566928"/>
          </a:xfrm>
          <a:prstGeom prst="roundRect">
            <a:avLst/>
          </a:prstGeom>
          <a:solidFill>
            <a:srgbClr val="141D34"/>
          </a:solidFill>
          <a:ln>
            <a:solidFill>
              <a:srgbClr val="2E3E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>
                <a:solidFill>
                  <a:srgbClr val="F5F8FF"/>
                </a:solidFill>
              </a:defRPr>
            </a:pPr>
            <a:r>
              <a:t>Create an FAQ using Bearer JWT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94360" y="3986783"/>
            <a:ext cx="731520" cy="566928"/>
          </a:xfrm>
          <a:prstGeom prst="roundRect">
            <a:avLst/>
          </a:prstGeom>
          <a:solidFill>
            <a:srgbClr val="141D34"/>
          </a:solidFill>
          <a:ln>
            <a:solidFill>
              <a:srgbClr val="2E3E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F5F8FF"/>
                </a:solidFill>
              </a:defRPr>
            </a:pPr>
            <a:r>
              <a:t>GET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508760" y="3986783"/>
            <a:ext cx="3017520" cy="566928"/>
          </a:xfrm>
          <a:prstGeom prst="roundRect">
            <a:avLst/>
          </a:prstGeom>
          <a:solidFill>
            <a:srgbClr val="141D34"/>
          </a:solidFill>
          <a:ln>
            <a:solidFill>
              <a:srgbClr val="2E3E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>
                <a:solidFill>
                  <a:srgbClr val="F5F8FF"/>
                </a:solidFill>
              </a:defRPr>
            </a:pPr>
            <a:r>
              <a:t>/api/faqs/search?q=configure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754880" y="3986783"/>
            <a:ext cx="1828800" cy="566928"/>
          </a:xfrm>
          <a:prstGeom prst="roundRect">
            <a:avLst/>
          </a:prstGeom>
          <a:solidFill>
            <a:srgbClr val="141D34"/>
          </a:solidFill>
          <a:ln>
            <a:solidFill>
              <a:srgbClr val="2E3E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>
                <a:solidFill>
                  <a:srgbClr val="F5F8FF"/>
                </a:solidFill>
              </a:defRPr>
            </a:pPr>
            <a:r>
              <a:t>Public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452360" y="3986783"/>
            <a:ext cx="3840480" cy="566928"/>
          </a:xfrm>
          <a:prstGeom prst="roundRect">
            <a:avLst/>
          </a:prstGeom>
          <a:solidFill>
            <a:srgbClr val="141D34"/>
          </a:solidFill>
          <a:ln>
            <a:solidFill>
              <a:srgbClr val="2E3E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>
                <a:solidFill>
                  <a:srgbClr val="F5F8FF"/>
                </a:solidFill>
              </a:defRPr>
            </a:pPr>
            <a:r>
              <a:t>Search published FAQ content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94360" y="4736592"/>
            <a:ext cx="731520" cy="566928"/>
          </a:xfrm>
          <a:prstGeom prst="roundRect">
            <a:avLst/>
          </a:prstGeom>
          <a:solidFill>
            <a:srgbClr val="141D34"/>
          </a:solidFill>
          <a:ln>
            <a:solidFill>
              <a:srgbClr val="2E3E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F5F8FF"/>
                </a:solidFill>
              </a:defRPr>
            </a:pPr>
            <a:r>
              <a:t>POST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508760" y="4736592"/>
            <a:ext cx="3017520" cy="566928"/>
          </a:xfrm>
          <a:prstGeom prst="roundRect">
            <a:avLst/>
          </a:prstGeom>
          <a:solidFill>
            <a:srgbClr val="141D34"/>
          </a:solidFill>
          <a:ln>
            <a:solidFill>
              <a:srgbClr val="2E3E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>
                <a:solidFill>
                  <a:srgbClr val="F5F8FF"/>
                </a:solidFill>
              </a:defRPr>
            </a:pPr>
            <a:r>
              <a:t>/api/ai/generate-faq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754880" y="4736592"/>
            <a:ext cx="1828800" cy="566928"/>
          </a:xfrm>
          <a:prstGeom prst="roundRect">
            <a:avLst/>
          </a:prstGeom>
          <a:solidFill>
            <a:srgbClr val="141D34"/>
          </a:solidFill>
          <a:ln>
            <a:solidFill>
              <a:srgbClr val="2E3E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>
                <a:solidFill>
                  <a:srgbClr val="F5F8FF"/>
                </a:solidFill>
              </a:defRPr>
            </a:pPr>
            <a:r>
              <a:t>Private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452360" y="4736592"/>
            <a:ext cx="3840480" cy="566928"/>
          </a:xfrm>
          <a:prstGeom prst="roundRect">
            <a:avLst/>
          </a:prstGeom>
          <a:solidFill>
            <a:srgbClr val="141D34"/>
          </a:solidFill>
          <a:ln>
            <a:solidFill>
              <a:srgbClr val="2E3E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>
                <a:solidFill>
                  <a:srgbClr val="F5F8FF"/>
                </a:solidFill>
              </a:defRPr>
            </a:pPr>
            <a:r>
              <a:t>Generate an FAQ pair using AI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94360" y="5532120"/>
            <a:ext cx="10698480" cy="566928"/>
          </a:xfrm>
          <a:prstGeom prst="roundRect">
            <a:avLst/>
          </a:prstGeom>
          <a:solidFill>
            <a:srgbClr val="070C18"/>
          </a:solidFill>
          <a:ln>
            <a:solidFill>
              <a:srgbClr val="2D3E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tIns="137160"/>
          <a:lstStyle/>
          <a:p>
            <a:pPr algn="ctr">
              <a:defRPr sz="1100" b="1">
                <a:solidFill>
                  <a:srgbClr val="5397FF"/>
                </a:solidFill>
              </a:defRPr>
            </a:pPr>
            <a:r>
              <a:t>AI request body example</a:t>
            </a:r>
          </a:p>
          <a:p>
            <a:pPr>
              <a:defRPr sz="1050">
                <a:solidFill>
                  <a:srgbClr val="F5F8FF"/>
                </a:solidFill>
                <a:latin typeface="Consolas"/>
              </a:defRPr>
            </a:pPr>
            <a:r>
              <a:t>{"topic":"Mongoose schema indexing validation runtime workflow optimization"}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881360" y="6473952"/>
            <a:ext cx="640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B1BED6"/>
                </a:solidFill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539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5F8FF"/>
                </a:solidFill>
              </a:defRPr>
            </a:pPr>
            <a:r>
              <a:t>11 — Outcome &amp; Impact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41248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B1BED6"/>
                </a:solidFill>
              </a:defRPr>
            </a:pPr>
            <a:r>
              <a:t>AnswerBot turns repetitive support operations into a controlled, searchable and AI-assisted workflow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280160"/>
            <a:ext cx="3383280" cy="1828800"/>
          </a:xfrm>
          <a:prstGeom prst="roundRect">
            <a:avLst/>
          </a:prstGeom>
          <a:solidFill>
            <a:srgbClr val="141D34"/>
          </a:solidFill>
          <a:ln>
            <a:solidFill>
              <a:srgbClr val="2E3E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rIns="164592" tIns="137160"/>
          <a:lstStyle/>
          <a:p>
            <a:pPr algn="ctr">
              <a:defRPr sz="1600" b="1">
                <a:solidFill>
                  <a:srgbClr val="F5F8FF"/>
                </a:solidFill>
              </a:defRPr>
            </a:pPr>
            <a:r>
              <a:t>Faster Resolution</a:t>
            </a:r>
          </a:p>
          <a:p>
            <a:pPr>
              <a:spcBef>
                <a:spcPts val="700"/>
              </a:spcBef>
              <a:defRPr sz="1150">
                <a:solidFill>
                  <a:srgbClr val="B1BED6"/>
                </a:solidFill>
              </a:defRPr>
            </a:pPr>
            <a:r>
              <a:t>Automated drafting and search reduce repetitive manual work.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280160"/>
            <a:ext cx="64008" cy="1828800"/>
          </a:xfrm>
          <a:prstGeom prst="rect">
            <a:avLst/>
          </a:prstGeom>
          <a:solidFill>
            <a:srgbClr val="539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389120" y="1280160"/>
            <a:ext cx="3383280" cy="1828800"/>
          </a:xfrm>
          <a:prstGeom prst="roundRect">
            <a:avLst/>
          </a:prstGeom>
          <a:solidFill>
            <a:srgbClr val="141D34"/>
          </a:solidFill>
          <a:ln>
            <a:solidFill>
              <a:srgbClr val="2E3E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rIns="164592" tIns="137160"/>
          <a:lstStyle/>
          <a:p>
            <a:pPr algn="ctr">
              <a:defRPr sz="1600" b="1">
                <a:solidFill>
                  <a:srgbClr val="F5F8FF"/>
                </a:solidFill>
              </a:defRPr>
            </a:pPr>
            <a:r>
              <a:t>Stronger Integrity</a:t>
            </a:r>
          </a:p>
          <a:p>
            <a:pPr>
              <a:spcBef>
                <a:spcPts val="700"/>
              </a:spcBef>
              <a:defRPr sz="1150">
                <a:solidFill>
                  <a:srgbClr val="B1BED6"/>
                </a:solidFill>
              </a:defRPr>
            </a:pPr>
            <a:r>
              <a:t>Validation, JWT authorization and ownership checks protect content.</a:t>
            </a:r>
          </a:p>
        </p:txBody>
      </p:sp>
      <p:sp>
        <p:nvSpPr>
          <p:cNvPr id="8" name="Rectangle 7"/>
          <p:cNvSpPr/>
          <p:nvPr/>
        </p:nvSpPr>
        <p:spPr>
          <a:xfrm>
            <a:off x="4389120" y="1280160"/>
            <a:ext cx="64008" cy="1828800"/>
          </a:xfrm>
          <a:prstGeom prst="rect">
            <a:avLst/>
          </a:prstGeom>
          <a:solidFill>
            <a:srgbClr val="41CD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138160" y="1280160"/>
            <a:ext cx="3383280" cy="1828800"/>
          </a:xfrm>
          <a:prstGeom prst="roundRect">
            <a:avLst/>
          </a:prstGeom>
          <a:solidFill>
            <a:srgbClr val="141D34"/>
          </a:solidFill>
          <a:ln>
            <a:solidFill>
              <a:srgbClr val="2E3E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rIns="164592" tIns="137160"/>
          <a:lstStyle/>
          <a:p>
            <a:pPr algn="ctr">
              <a:defRPr sz="1600" b="1">
                <a:solidFill>
                  <a:srgbClr val="F5F8FF"/>
                </a:solidFill>
              </a:defRPr>
            </a:pPr>
            <a:r>
              <a:t>Better Discoverability</a:t>
            </a:r>
          </a:p>
          <a:p>
            <a:pPr>
              <a:spcBef>
                <a:spcPts val="700"/>
              </a:spcBef>
              <a:defRPr sz="1150">
                <a:solidFill>
                  <a:srgbClr val="B1BED6"/>
                </a:solidFill>
              </a:defRPr>
            </a:pPr>
            <a:r>
              <a:t>Indexed FAQ data and search routes make information easier to find.</a:t>
            </a:r>
          </a:p>
        </p:txBody>
      </p:sp>
      <p:sp>
        <p:nvSpPr>
          <p:cNvPr id="10" name="Rectangle 9"/>
          <p:cNvSpPr/>
          <p:nvPr/>
        </p:nvSpPr>
        <p:spPr>
          <a:xfrm>
            <a:off x="8138160" y="1280160"/>
            <a:ext cx="64008" cy="1828800"/>
          </a:xfrm>
          <a:prstGeom prst="rect">
            <a:avLst/>
          </a:prstGeom>
          <a:solidFill>
            <a:srgbClr val="A06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40080" y="3474720"/>
            <a:ext cx="10881360" cy="1417320"/>
          </a:xfrm>
          <a:prstGeom prst="roundRect">
            <a:avLst/>
          </a:prstGeom>
          <a:solidFill>
            <a:srgbClr val="141D34"/>
          </a:solidFill>
          <a:ln>
            <a:solidFill>
              <a:srgbClr val="2E3E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rIns="164592" tIns="137160"/>
          <a:lstStyle/>
          <a:p>
            <a:pPr algn="ctr">
              <a:defRPr sz="1600" b="1">
                <a:solidFill>
                  <a:srgbClr val="F5F8FF"/>
                </a:solidFill>
              </a:defRPr>
            </a:pPr>
            <a:r>
              <a:t>Scenario Outcome</a:t>
            </a:r>
          </a:p>
          <a:p>
            <a:pPr>
              <a:spcBef>
                <a:spcPts val="700"/>
              </a:spcBef>
              <a:defRPr sz="1150">
                <a:solidFill>
                  <a:srgbClr val="B1BED6"/>
                </a:solidFill>
              </a:defRPr>
            </a:pPr>
            <a:r>
              <a:t>For Priya, the backend centralizes FAQ creation, AI assistance, permissions, search and persistence—minimizing operational delays while keeping documentation structured and secure.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3474720"/>
            <a:ext cx="64008" cy="1417320"/>
          </a:xfrm>
          <a:prstGeom prst="rect">
            <a:avLst/>
          </a:prstGeom>
          <a:solidFill>
            <a:srgbClr val="FFAE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40080" y="5212080"/>
            <a:ext cx="5257800" cy="731520"/>
          </a:xfrm>
          <a:prstGeom prst="roundRect">
            <a:avLst/>
          </a:prstGeom>
          <a:solidFill>
            <a:srgbClr val="141D34"/>
          </a:solidFill>
          <a:ln>
            <a:solidFill>
              <a:srgbClr val="2E3E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rIns="164592" tIns="137160"/>
          <a:lstStyle/>
          <a:p>
            <a:pPr algn="ctr">
              <a:defRPr sz="1600" b="1">
                <a:solidFill>
                  <a:srgbClr val="F5F8FF"/>
                </a:solidFill>
              </a:defRPr>
            </a:pPr>
            <a:r>
              <a:t>API Testing Video</a:t>
            </a:r>
          </a:p>
          <a:p>
            <a:pPr>
              <a:spcBef>
                <a:spcPts val="700"/>
              </a:spcBef>
              <a:defRPr sz="1150">
                <a:solidFill>
                  <a:srgbClr val="B1BED6"/>
                </a:solidFill>
              </a:defRPr>
            </a:pPr>
            <a:r>
              <a:t>Google Drive link provided in project documentation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5212080"/>
            <a:ext cx="64008" cy="731520"/>
          </a:xfrm>
          <a:prstGeom prst="rect">
            <a:avLst/>
          </a:prstGeom>
          <a:solidFill>
            <a:srgbClr val="539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263640" y="5212080"/>
            <a:ext cx="5257800" cy="731520"/>
          </a:xfrm>
          <a:prstGeom prst="roundRect">
            <a:avLst/>
          </a:prstGeom>
          <a:solidFill>
            <a:srgbClr val="141D34"/>
          </a:solidFill>
          <a:ln>
            <a:solidFill>
              <a:srgbClr val="2E3E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rIns="164592" tIns="137160"/>
          <a:lstStyle/>
          <a:p>
            <a:pPr algn="ctr">
              <a:defRPr sz="1600" b="1">
                <a:solidFill>
                  <a:srgbClr val="F5F8FF"/>
                </a:solidFill>
              </a:defRPr>
            </a:pPr>
            <a:r>
              <a:t>Demo</a:t>
            </a:r>
          </a:p>
          <a:p>
            <a:pPr>
              <a:spcBef>
                <a:spcPts val="700"/>
              </a:spcBef>
              <a:defRPr sz="1150">
                <a:solidFill>
                  <a:srgbClr val="B1BED6"/>
                </a:solidFill>
              </a:defRPr>
            </a:pPr>
            <a:r>
              <a:t>Google Drive demo link provided in project documentation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63640" y="5212080"/>
            <a:ext cx="64008" cy="731520"/>
          </a:xfrm>
          <a:prstGeom prst="rect">
            <a:avLst/>
          </a:prstGeom>
          <a:solidFill>
            <a:srgbClr val="41CD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81360" y="6473952"/>
            <a:ext cx="640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B1BED6"/>
                </a:solidFill>
              </a:defRPr>
            </a:pPr>
            <a: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539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965960"/>
            <a:ext cx="1033272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200" b="1">
                <a:solidFill>
                  <a:srgbClr val="F5F8FF"/>
                </a:solidFill>
              </a:defRPr>
            </a:pPr>
            <a:r>
              <a:t>Thank You</a:t>
            </a:r>
          </a:p>
          <a:p>
            <a:pPr algn="ctr">
              <a:defRPr sz="1800">
                <a:solidFill>
                  <a:srgbClr val="5397FF"/>
                </a:solidFill>
              </a:defRPr>
            </a:pPr>
            <a:r>
              <a:t>AnswerBot — AI-powered FAQ &amp; Customer Support Automation</a:t>
            </a:r>
          </a:p>
          <a:p>
            <a:pPr algn="ctr">
              <a:defRPr sz="1300">
                <a:solidFill>
                  <a:srgbClr val="B1BED6"/>
                </a:solidFill>
              </a:defRPr>
            </a:pPr>
            <a:r>
              <a:t>Secure APIs • AI Automation • Intelligent Search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81360" y="6473952"/>
            <a:ext cx="640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B1BED6"/>
                </a:solidFill>
              </a:defRPr>
            </a:pPr>
            <a:r>
              <a:t>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